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Playfair Display"/>
      <p:regular r:id="rId23"/>
      <p:bold r:id="rId24"/>
      <p:italic r:id="rId25"/>
      <p:boldItalic r:id="rId26"/>
    </p:embeddedFon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iSTDuN/N5Z83/n0GnwlFtcjwhs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PlayfairDisplay-bold.fntdata"/><Relationship Id="rId23" Type="http://schemas.openxmlformats.org/officeDocument/2006/relationships/font" Target="fonts/PlayfairDisplay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ayfairDisplay-boldItalic.fntdata"/><Relationship Id="rId25" Type="http://schemas.openxmlformats.org/officeDocument/2006/relationships/font" Target="fonts/PlayfairDisplay-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Mon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Roboto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jpg"/><Relationship Id="rId4" Type="http://schemas.openxmlformats.org/officeDocument/2006/relationships/image" Target="../media/image19.png"/><Relationship Id="rId10" Type="http://schemas.openxmlformats.org/officeDocument/2006/relationships/image" Target="../media/image23.png"/><Relationship Id="rId9" Type="http://schemas.openxmlformats.org/officeDocument/2006/relationships/image" Target="../media/image24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8.jpg"/><Relationship Id="rId4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jp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4.jpg"/><Relationship Id="rId4" Type="http://schemas.openxmlformats.org/officeDocument/2006/relationships/image" Target="../media/image33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31.png"/><Relationship Id="rId8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9.jpg"/><Relationship Id="rId4" Type="http://schemas.openxmlformats.org/officeDocument/2006/relationships/image" Target="../media/image45.png"/><Relationship Id="rId5" Type="http://schemas.openxmlformats.org/officeDocument/2006/relationships/image" Target="../media/image38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1.jpg"/><Relationship Id="rId4" Type="http://schemas.openxmlformats.org/officeDocument/2006/relationships/image" Target="../media/image46.png"/><Relationship Id="rId5" Type="http://schemas.openxmlformats.org/officeDocument/2006/relationships/image" Target="../media/image41.png"/><Relationship Id="rId6" Type="http://schemas.openxmlformats.org/officeDocument/2006/relationships/image" Target="../media/image40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1412677" y="1628608"/>
            <a:ext cx="6318647" cy="565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6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31"/>
              <a:buFont typeface="Playfair Display"/>
              <a:buNone/>
            </a:pPr>
            <a:r>
              <a:rPr b="1" i="0" lang="en-US" sz="3731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Data-Driven Public Safety</a:t>
            </a:r>
            <a:endParaRPr b="0" i="0" sz="37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231529" y="2337262"/>
            <a:ext cx="4680942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FFB400"/>
              </a:buClr>
              <a:buSzPts val="1486"/>
              <a:buFont typeface="Roboto"/>
              <a:buNone/>
            </a:pPr>
            <a:r>
              <a:rPr b="0" i="0" lang="en-US" sz="1486" u="none" cap="none" strike="noStrike">
                <a:solidFill>
                  <a:srgbClr val="FFB400"/>
                </a:solidFill>
                <a:latin typeface="Roboto"/>
                <a:ea typeface="Roboto"/>
                <a:cs typeface="Roboto"/>
                <a:sym typeface="Roboto"/>
              </a:rPr>
              <a:t>PREDICTING ARREST OUTCOMES IN CHICAGO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205758" y="2999845"/>
            <a:ext cx="2732484" cy="85792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3205758" y="2999845"/>
            <a:ext cx="2732484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3205758" y="3217729"/>
            <a:ext cx="2732484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PREPARED BY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205758" y="3442757"/>
            <a:ext cx="2732484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Roboto"/>
              <a:buNone/>
            </a:pPr>
            <a:r>
              <a:rPr lang="en-US" sz="942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Group - 7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169146" y="4739878"/>
            <a:ext cx="2805708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MGMT 59000-147 - Big Data and MLOps – Final Project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740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"/>
          <p:cNvSpPr/>
          <p:nvPr/>
        </p:nvSpPr>
        <p:spPr>
          <a:xfrm>
            <a:off x="0" y="0"/>
            <a:ext cx="5486400" cy="5147407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479256" y="0"/>
            <a:ext cx="7144" cy="5147407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57188" y="428625"/>
            <a:ext cx="4772025" cy="880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292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62"/>
              <a:buFont typeface="Playfair Display"/>
              <a:buNone/>
            </a:pPr>
            <a:r>
              <a:rPr b="1" i="0" lang="en-US" sz="2862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$2 Billion</a:t>
            </a:r>
            <a:br>
              <a:rPr b="1" i="0" lang="en-US" sz="2862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b="1" i="0" lang="en-US" sz="2862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Business Problem</a:t>
            </a:r>
            <a:endParaRPr b="0" i="0" sz="28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57188" y="1451577"/>
            <a:ext cx="4772025" cy="4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69"/>
              <a:buFont typeface="Roboto"/>
              <a:buNone/>
            </a:pPr>
            <a:r>
              <a:rPr b="0" i="0" lang="en-US" sz="1269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Crime is not just a public safety issue — it is a direct drag on Chicago's economy, real estate, and investment.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57188" y="2288791"/>
            <a:ext cx="357188" cy="3571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772" y="2381659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857250" y="2288791"/>
            <a:ext cx="4271963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8.5 Million+ Incidents (2001–2026)</a:t>
            </a:r>
            <a:br>
              <a:rPr b="0" i="0" lang="en-US" sz="1050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050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 One of the most comprehensive urban crime datasets in the world, revealing deep structural patterns.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57188" y="3146041"/>
            <a:ext cx="357188" cy="3571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0056" y="3238909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857250" y="3146041"/>
            <a:ext cx="4271963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Property Value Impact</a:t>
            </a:r>
            <a:br>
              <a:rPr b="0" i="0" lang="en-US" sz="1050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050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 Neighborhoods with elevated crime rates see measurably reduced property values and diminished buyer interest.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57188" y="4003291"/>
            <a:ext cx="357188" cy="3571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341" y="4096159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857250" y="4003291"/>
            <a:ext cx="4271963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The Investment Case</a:t>
            </a:r>
            <a:br>
              <a:rPr b="0" i="0" lang="en-US" sz="1050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050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 Every dollar invested in evidence-based crime reduction generates compounding returns in economic activity.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57188" y="4815222"/>
            <a:ext cx="3261122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Source: Chicago Crime Dataset (2001–2026), U.S. Chamber of Commerce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486400" y="0"/>
            <a:ext cx="3657600" cy="5147407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5843588" y="428625"/>
            <a:ext cx="2943225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RETAIL THEFT LOSS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843588" y="651867"/>
            <a:ext cx="29432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564"/>
              </a:lnSpc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4974"/>
              <a:buFont typeface="Playfair Display"/>
              <a:buNone/>
            </a:pPr>
            <a:r>
              <a:rPr b="1" i="0" lang="en-US" sz="4974" u="none" cap="none" strike="noStrike">
                <a:solidFill>
                  <a:srgbClr val="D930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$2B+</a:t>
            </a:r>
            <a:endParaRPr b="0" i="0" sz="49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843588" y="1409105"/>
            <a:ext cx="2943225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Estimated annual cost of retail theft to Illinois businesses in 2021.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843588" y="2197764"/>
            <a:ext cx="2943225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INCIDENTS ANALYZED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843588" y="2421006"/>
            <a:ext cx="29432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322"/>
              </a:lnSpc>
              <a:spcBef>
                <a:spcPts val="0"/>
              </a:spcBef>
              <a:spcAft>
                <a:spcPts val="0"/>
              </a:spcAft>
              <a:buClr>
                <a:srgbClr val="FFB400"/>
              </a:buClr>
              <a:buSzPts val="3293"/>
              <a:buFont typeface="Playfair Display"/>
              <a:buNone/>
            </a:pPr>
            <a:r>
              <a:rPr b="1" i="0" lang="en-US" sz="3293" u="none" cap="none" strike="noStrike">
                <a:solidFill>
                  <a:srgbClr val="FFB4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8.5M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843588" y="2949643"/>
            <a:ext cx="2943225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Total crime records processed to build the predictive model.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843588" y="3738302"/>
            <a:ext cx="2943225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2025 IMPROVEMENT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843588" y="3961544"/>
            <a:ext cx="29432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3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Playfair Display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Lowest Homicides Since 2014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" name="Google Shape;5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285750" y="370025"/>
            <a:ext cx="4000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322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93"/>
              <a:buFont typeface="Playfair Display"/>
              <a:buNone/>
            </a:pPr>
            <a:r>
              <a:rPr b="1" i="0" lang="en-US" sz="3293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2025:</a:t>
            </a:r>
            <a:br>
              <a:rPr b="1" i="0" lang="en-US" sz="3293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b="1" i="0" lang="en-US" sz="3293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Historic Turning Point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72575" y="1985238"/>
            <a:ext cx="40005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3025" spcFirstLastPara="1" rIns="0" wrap="square" tIns="0">
            <a:sp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69"/>
              <a:buFont typeface="Roboto"/>
              <a:buNone/>
            </a:pPr>
            <a:r>
              <a:rPr b="0" i="0" lang="en-US" sz="1269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Chicago recorded double-digit decreases in every major crime category, marking the safest year in a decade.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285750" y="2891740"/>
            <a:ext cx="4000500" cy="16800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285750" y="2891740"/>
            <a:ext cx="7144" cy="168009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42900" y="2948890"/>
            <a:ext cx="3886200" cy="57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875"/>
              </a:lnSpc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1602"/>
              <a:buFont typeface="Playfair Display"/>
              <a:buNone/>
            </a:pPr>
            <a:r>
              <a:rPr b="1" i="0" lang="en-US" sz="1602" u="none" cap="none" strike="noStrike">
                <a:solidFill>
                  <a:srgbClr val="D930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416 Homicides</a:t>
            </a:r>
            <a:br>
              <a:rPr b="0" i="0" lang="en-US" sz="942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942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 The fewest since 2014. A structural break from the post-2020 spike.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42900" y="3577512"/>
            <a:ext cx="3886200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Concentrated Impact:</a:t>
            </a:r>
            <a:r>
              <a:rPr b="0" i="0" lang="en-US" sz="942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 West Englewood saw a </a:t>
            </a:r>
            <a:r>
              <a:rPr b="1" i="0" lang="en-US" sz="885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52.9%</a:t>
            </a:r>
            <a:r>
              <a:rPr b="0" i="0" lang="en-US" sz="942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 drop in homicides. Auburn-Gresham dropped </a:t>
            </a:r>
            <a:r>
              <a:rPr b="1" i="0" lang="en-US" sz="885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36.7%</a:t>
            </a:r>
            <a:r>
              <a:rPr b="0" i="0" lang="en-US" sz="942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42900" y="4046097"/>
            <a:ext cx="3886200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This represents the strongest sustained safety signal Chicago has produced this century.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857750" y="571500"/>
            <a:ext cx="4000500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YEAR-OVER-YEAR CHANGE (2025 VS 2024)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857750" y="841177"/>
            <a:ext cx="1600200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Vehicular Hijackings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43675" y="810816"/>
            <a:ext cx="2228850" cy="228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8070652" y="792063"/>
            <a:ext cx="644723" cy="26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7"/>
              <a:buFont typeface="Playfair Display"/>
              <a:buNone/>
            </a:pPr>
            <a:r>
              <a:rPr b="1" i="0" lang="en-US" sz="1397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-50.0%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857750" y="1112639"/>
            <a:ext cx="1600200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Robberies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543675" y="1082278"/>
            <a:ext cx="2228850" cy="228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8133159" y="1063526"/>
            <a:ext cx="582216" cy="26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7"/>
              <a:buFont typeface="Playfair Display"/>
              <a:buNone/>
            </a:pPr>
            <a:r>
              <a:rPr b="1" i="0" lang="en-US" sz="1397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-36.1%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857750" y="1384102"/>
            <a:ext cx="1600200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Multi-Victim Shootings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543675" y="1353741"/>
            <a:ext cx="2228850" cy="228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8118872" y="1334988"/>
            <a:ext cx="596503" cy="26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7"/>
              <a:buFont typeface="Playfair Display"/>
              <a:buNone/>
            </a:pPr>
            <a:r>
              <a:rPr b="1" i="0" lang="en-US" sz="1397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-35.6%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857750" y="1655564"/>
            <a:ext cx="1600200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Shootings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543675" y="1625203"/>
            <a:ext cx="2228850" cy="228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8129588" y="1606451"/>
            <a:ext cx="585788" cy="26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7"/>
              <a:buFont typeface="Playfair Display"/>
              <a:buNone/>
            </a:pPr>
            <a:r>
              <a:rPr b="1" i="0" lang="en-US" sz="1397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-34.5%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857750" y="1927027"/>
            <a:ext cx="1600200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Homicides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543675" y="1896666"/>
            <a:ext cx="2228850" cy="228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8076009" y="1877913"/>
            <a:ext cx="639366" cy="26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7"/>
              <a:buFont typeface="Playfair Display"/>
              <a:buNone/>
            </a:pPr>
            <a:r>
              <a:rPr b="1" i="0" lang="en-US" sz="1397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-29.0%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857750" y="2198489"/>
            <a:ext cx="1600200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Overall Violent Crime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543675" y="2168128"/>
            <a:ext cx="2228850" cy="228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8147447" y="2149376"/>
            <a:ext cx="567928" cy="26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7"/>
              <a:buFont typeface="Playfair Display"/>
              <a:buNone/>
            </a:pPr>
            <a:r>
              <a:rPr b="1" i="0" lang="en-US" sz="1397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-21.3%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857750" y="2496741"/>
            <a:ext cx="4000500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1"/>
              <a:buFont typeface="Roboto"/>
              <a:buNone/>
            </a:pPr>
            <a:r>
              <a:rPr b="0" i="0" lang="en-US" sz="621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Source: City of Chicago / University of Chicago Crime Lab (2025)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2657" y="370025"/>
            <a:ext cx="4470680" cy="2521725"/>
          </a:xfrm>
          <a:prstGeom prst="rect">
            <a:avLst/>
          </a:prstGeom>
          <a:solidFill>
            <a:srgbClr val="333333"/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3" name="Google Shape;9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428625" y="428625"/>
            <a:ext cx="8286750" cy="84296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28625" y="1264444"/>
            <a:ext cx="8286750" cy="714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428625" y="428625"/>
            <a:ext cx="3468291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8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2"/>
              <a:buFont typeface="Playfair Display"/>
              <a:buNone/>
            </a:pPr>
            <a:r>
              <a:rPr b="1" i="0" lang="en-US" sz="286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25 Years of</a:t>
            </a:r>
            <a:br>
              <a:rPr b="1" i="0" lang="en-US" sz="286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b="1" i="0" lang="en-US" sz="286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Urban Intelligence</a:t>
            </a:r>
            <a:endParaRPr b="0" i="0" sz="28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945386" y="1059061"/>
            <a:ext cx="2769989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B400"/>
              </a:buClr>
              <a:buSzPts val="942"/>
              <a:buFont typeface="Roboto Mono"/>
              <a:buNone/>
            </a:pPr>
            <a:r>
              <a:rPr b="0" i="0" lang="en-US" sz="942" u="none" cap="none" strike="noStrike">
                <a:solidFill>
                  <a:srgbClr val="FFB400"/>
                </a:solidFill>
                <a:latin typeface="Roboto Mono"/>
                <a:ea typeface="Roboto Mono"/>
                <a:cs typeface="Roboto Mono"/>
                <a:sym typeface="Roboto Mono"/>
              </a:rPr>
              <a:t>CHICAGO CRIME DATASET (2001–2026)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00075" y="1335881"/>
            <a:ext cx="254317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TOTAL VOLUME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00075" y="1489472"/>
            <a:ext cx="25431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3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Playfair Display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8.5 Million+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00075" y="1868091"/>
            <a:ext cx="2543175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Individual incident records processed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00075" y="2113824"/>
            <a:ext cx="254317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TIME HORIZON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00075" y="2267415"/>
            <a:ext cx="2543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3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Playfair Display"/>
              <a:buNone/>
            </a:pPr>
            <a:r>
              <a:rPr b="1" i="0" lang="en-US" sz="160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25 Years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00075" y="2531734"/>
            <a:ext cx="2543175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From 2001 to present day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00075" y="2777468"/>
            <a:ext cx="254317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DATA RICHNESS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00075" y="2931058"/>
            <a:ext cx="2543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3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Playfair Display"/>
              <a:buNone/>
            </a:pPr>
            <a:r>
              <a:rPr b="1" i="0" lang="en-US" sz="160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22 Features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00075" y="3195377"/>
            <a:ext cx="2543175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Per incident (Location, Time, Type)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286125" y="1335881"/>
            <a:ext cx="2671763" cy="1418620"/>
          </a:xfrm>
          <a:prstGeom prst="rect">
            <a:avLst/>
          </a:prstGeom>
          <a:solidFill>
            <a:srgbClr val="252525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6138" y="1447502"/>
            <a:ext cx="11251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3570089" y="1435894"/>
            <a:ext cx="1203722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WHAT (The Incident)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386138" y="1659136"/>
            <a:ext cx="728663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primary_type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068491" y="1659136"/>
            <a:ext cx="789384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(e.g., THEFT)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386138" y="1834158"/>
            <a:ext cx="667941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description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372100" y="1834158"/>
            <a:ext cx="485775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(Detail)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386138" y="2009180"/>
            <a:ext cx="242888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iucr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007769" y="2009180"/>
            <a:ext cx="850106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(Uniform Code)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386138" y="2184202"/>
            <a:ext cx="607219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is_violent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311378" y="2184202"/>
            <a:ext cx="546497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(Derived)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043613" y="1335881"/>
            <a:ext cx="2671763" cy="1418620"/>
          </a:xfrm>
          <a:prstGeom prst="rect">
            <a:avLst/>
          </a:prstGeom>
          <a:solidFill>
            <a:srgbClr val="252525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3625" y="1447502"/>
            <a:ext cx="9644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6311503" y="1435894"/>
            <a:ext cx="955477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WHERE (Spatial)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143625" y="1659136"/>
            <a:ext cx="1214438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latitude / longitude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8311753" y="1659136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(GPS)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43625" y="1834158"/>
            <a:ext cx="485775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district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7825978" y="1834158"/>
            <a:ext cx="789384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(Police Dist)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43625" y="2009180"/>
            <a:ext cx="850106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community_area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8251031" y="2009180"/>
            <a:ext cx="364331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(Nbhd)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143625" y="2184202"/>
            <a:ext cx="789384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location_desc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765256" y="2184202"/>
            <a:ext cx="850106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(e.g., STREET)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286125" y="2830711"/>
            <a:ext cx="2671763" cy="1423392"/>
          </a:xfrm>
          <a:prstGeom prst="rect">
            <a:avLst/>
          </a:prstGeom>
          <a:solidFill>
            <a:srgbClr val="252525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86138" y="2942332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/>
          <p:nvPr/>
        </p:nvSpPr>
        <p:spPr>
          <a:xfrm>
            <a:off x="3586163" y="2930723"/>
            <a:ext cx="1039416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WHEN (Temporal)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386138" y="3153966"/>
            <a:ext cx="242888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date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189934" y="3153966"/>
            <a:ext cx="667941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(Timestamp)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386138" y="3328988"/>
            <a:ext cx="667941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hour_of_day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493544" y="3328988"/>
            <a:ext cx="364331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(0-23)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3386138" y="3504009"/>
            <a:ext cx="667941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day_of_week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311378" y="3504009"/>
            <a:ext cx="546497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(Mon-Sun)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3386138" y="3679031"/>
            <a:ext cx="242888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432822" y="3679031"/>
            <a:ext cx="425053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(Trend)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6043613" y="2830711"/>
            <a:ext cx="2671763" cy="1423392"/>
          </a:xfrm>
          <a:prstGeom prst="rect">
            <a:avLst/>
          </a:prstGeom>
          <a:solidFill>
            <a:srgbClr val="2A1A1A"/>
          </a:solidFill>
          <a:ln cap="flat" cmpd="sng" w="9525">
            <a:solidFill>
              <a:srgbClr val="D930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43625" y="2947076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/>
          <p:nvPr/>
        </p:nvSpPr>
        <p:spPr>
          <a:xfrm>
            <a:off x="6343650" y="2935467"/>
            <a:ext cx="1103709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OUTCOME (Target)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143625" y="3158710"/>
            <a:ext cx="364331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83"/>
              <a:buFont typeface="Roboto Mono"/>
              <a:buNone/>
            </a:pPr>
            <a:r>
              <a:rPr b="1" i="0" lang="en-US" sz="683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arrest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7886700" y="3158710"/>
            <a:ext cx="728663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83"/>
              <a:buFont typeface="Roboto Mono"/>
              <a:buNone/>
            </a:pPr>
            <a:r>
              <a:rPr b="1" i="0" lang="en-US" sz="683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(True/False)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6143625" y="3333731"/>
            <a:ext cx="485775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domestic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8068866" y="3333731"/>
            <a:ext cx="546497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(Boolean)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6143625" y="3508753"/>
            <a:ext cx="2471738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D93025"/>
                </a:solidFill>
                <a:latin typeface="Roboto Mono"/>
                <a:ea typeface="Roboto Mono"/>
                <a:cs typeface="Roboto Mono"/>
                <a:sym typeface="Roboto Mono"/>
              </a:rPr>
              <a:t>The Business Question: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6143625" y="3683775"/>
            <a:ext cx="2471738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D93025"/>
                </a:solidFill>
                <a:latin typeface="Roboto Mono"/>
                <a:ea typeface="Roboto Mono"/>
                <a:cs typeface="Roboto Mono"/>
                <a:sym typeface="Roboto Mono"/>
              </a:rPr>
              <a:t>Can we predict this?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3286125" y="4420781"/>
            <a:ext cx="5429250" cy="651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10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784"/>
              <a:buFont typeface="Roboto"/>
              <a:buNone/>
            </a:pPr>
            <a:r>
              <a:rPr b="1" i="0" lang="en-US" sz="784" u="none" cap="none" strike="noStrike">
                <a:solidFill>
                  <a:srgbClr val="D93025"/>
                </a:solidFill>
                <a:latin typeface="Roboto"/>
                <a:ea typeface="Roboto"/>
                <a:cs typeface="Roboto"/>
                <a:sym typeface="Roboto"/>
              </a:rPr>
              <a:t>Business Implication:</a:t>
            </a:r>
            <a:r>
              <a:rPr b="0" i="0" lang="en-US" sz="834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 The richness of this dataset (22 features × 8.5M records) allows us to identify patterns invisible to human analysts, transforming raw logs into predictive intelligence.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5" name="Google Shape;1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57801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5"/>
          <p:cNvSpPr/>
          <p:nvPr/>
        </p:nvSpPr>
        <p:spPr>
          <a:xfrm>
            <a:off x="0" y="0"/>
            <a:ext cx="4572000" cy="557801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4564856" y="0"/>
            <a:ext cx="7144" cy="5578013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428625" y="571500"/>
            <a:ext cx="37147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8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2"/>
              <a:buFont typeface="Playfair Display"/>
              <a:buNone/>
            </a:pPr>
            <a:r>
              <a:rPr b="1" i="0" lang="en-US" sz="286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Where the Business Risk Is Concentrated</a:t>
            </a:r>
            <a:endParaRPr b="0" i="0" sz="28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28625" y="1914525"/>
            <a:ext cx="3714750" cy="7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69"/>
              <a:buFont typeface="Roboto"/>
              <a:buNone/>
            </a:pPr>
            <a:r>
              <a:rPr b="0" i="0" lang="en-US" sz="1269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Theft dominates Chicago's crime landscape, but arrest rates reveal a stark gap in accountability.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28625" y="3063190"/>
            <a:ext cx="3714750" cy="2207642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428625" y="3063190"/>
            <a:ext cx="3714750" cy="28575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714375" y="3348940"/>
            <a:ext cx="3143250" cy="26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FFB400"/>
              </a:buClr>
              <a:buSzPts val="1486"/>
              <a:buFont typeface="Playfair Display"/>
              <a:buNone/>
            </a:pPr>
            <a:r>
              <a:rPr b="0" i="0" lang="en-US" sz="1486" u="none" cap="none" strike="noStrike">
                <a:solidFill>
                  <a:srgbClr val="FFB4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Retail Reality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714375" y="3722201"/>
            <a:ext cx="3143250" cy="123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Theft</a:t>
            </a:r>
            <a:r>
              <a:rPr b="0" i="0" lang="en-US" sz="942" u="none" cap="none" strike="noStrike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— the highest-volume crime — has an arrest rate of just </a:t>
            </a: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~6%</a:t>
            </a:r>
            <a:r>
              <a:rPr b="0" i="0" lang="en-US" sz="942" u="none" cap="none" strike="noStrike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br>
              <a:rPr b="0" i="0" lang="en-US" sz="942" u="none" cap="none" strike="noStrike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en-US" sz="942" u="none" cap="none" strike="noStrike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942" u="none" cap="none" strike="noStrike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For businesses, this means the vast majority of incidents result in </a:t>
            </a: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 accountability</a:t>
            </a:r>
            <a:r>
              <a:rPr b="0" i="0" lang="en-US" sz="942" u="none" cap="none" strike="noStrike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, driving shrinkage and insurance costs.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5157788" y="1187900"/>
            <a:ext cx="805458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TOTAL VOLUME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334720" y="1187900"/>
            <a:ext cx="812602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ARRESTS MADE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000625" y="1591521"/>
            <a:ext cx="439341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THEFT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7429500" y="1591521"/>
            <a:ext cx="1285875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High Volume / Low Arrest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000625" y="1830837"/>
            <a:ext cx="3714750" cy="3571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5000625" y="1830837"/>
            <a:ext cx="222879" cy="357188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5000625" y="1830837"/>
            <a:ext cx="222879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85075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Roboto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6%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700963" y="1412928"/>
            <a:ext cx="1014413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683"/>
              <a:buFont typeface="Roboto"/>
              <a:buNone/>
            </a:pPr>
            <a:r>
              <a:rPr b="1" i="0" lang="en-US" sz="683" u="none" cap="none" strike="noStrike">
                <a:solidFill>
                  <a:srgbClr val="D93025"/>
                </a:solidFill>
                <a:latin typeface="Roboto"/>
                <a:ea typeface="Roboto"/>
                <a:cs typeface="Roboto"/>
                <a:sym typeface="Roboto"/>
              </a:rPr>
              <a:t>Primary Business Risk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000625" y="2545212"/>
            <a:ext cx="616148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BATTERY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7606308" y="2545212"/>
            <a:ext cx="1109067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Workplace Safety Risk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000625" y="2784528"/>
            <a:ext cx="3714750" cy="3571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5000625" y="2784528"/>
            <a:ext cx="742950" cy="357188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5000625" y="2784528"/>
            <a:ext cx="74295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85075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Roboto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30%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5000625" y="3498903"/>
            <a:ext cx="785813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NARCOTICS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8081367" y="3498903"/>
            <a:ext cx="634008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Data Artifact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5000625" y="3738218"/>
            <a:ext cx="3714750" cy="3571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5000625" y="3738218"/>
            <a:ext cx="735499" cy="3571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5000625" y="3738218"/>
            <a:ext cx="735499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85075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Roboto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99%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5000625" y="4166843"/>
            <a:ext cx="3714750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1"/>
              <a:buFont typeface="Roboto"/>
              <a:buNone/>
            </a:pPr>
            <a:r>
              <a:rPr b="0" i="0" lang="en-US" sz="621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*Arrest rate is artificially high because incidents are only logged after an arrest.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8" name="Google Shape;1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6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3193256" y="0"/>
            <a:ext cx="7144" cy="5143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285750" y="571500"/>
            <a:ext cx="2628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8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2"/>
              <a:buFont typeface="Playfair Display"/>
              <a:buNone/>
            </a:pPr>
            <a:r>
              <a:rPr b="1" i="0" lang="en-US" sz="286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25 Years of</a:t>
            </a:r>
            <a:br>
              <a:rPr b="1" i="0" lang="en-US" sz="286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b="1" i="0" lang="en-US" sz="286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Crime Trends</a:t>
            </a:r>
            <a:endParaRPr b="0" i="0" sz="28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285750" y="1514475"/>
            <a:ext cx="2628900" cy="445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880"/>
              </a:lnSpc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1193"/>
              <a:buFont typeface="Roboto"/>
              <a:buNone/>
            </a:pPr>
            <a:r>
              <a:rPr b="1" i="0" lang="en-US" sz="1193" u="none" cap="none" strike="noStrike">
                <a:solidFill>
                  <a:srgbClr val="D93025"/>
                </a:solidFill>
                <a:latin typeface="Roboto"/>
                <a:ea typeface="Roboto"/>
                <a:cs typeface="Roboto"/>
                <a:sym typeface="Roboto"/>
              </a:rPr>
              <a:t>What the Data Tells Business Leaders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285750" y="2174546"/>
            <a:ext cx="2628900" cy="1900796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285750" y="2174546"/>
            <a:ext cx="28575" cy="1900796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14338" y="2303134"/>
            <a:ext cx="237172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STRATEGIC INSIGHT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14338" y="2506731"/>
            <a:ext cx="2371725" cy="1440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The long-term trend is positive, but </a:t>
            </a: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volatility matters</a:t>
            </a:r>
            <a:r>
              <a:rPr b="0" i="0" lang="en-US" sz="942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br>
              <a:rPr b="0" i="0" lang="en-US" sz="942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en-US" sz="942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942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Business leaders must distinguish between structural shifts (2025) and temporary anomalies (2020) to make sound investment decisions.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3843338" y="545827"/>
            <a:ext cx="503634" cy="303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2"/>
              <a:buFont typeface="Playfair Display"/>
              <a:buNone/>
            </a:pPr>
            <a:r>
              <a:rPr b="1" i="0" lang="en-US" sz="1602" u="none" cap="none" strike="noStrike">
                <a:solidFill>
                  <a:srgbClr val="6666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2001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525566" y="618158"/>
            <a:ext cx="558998" cy="1589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4525566" y="618158"/>
            <a:ext cx="558998" cy="1589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25" lIns="68050" spcFirstLastPara="1" rIns="68050" wrap="square" tIns="34025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Roboto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BASELINE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843338" y="885155"/>
            <a:ext cx="4872038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Peak Crime Volume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3843338" y="1088752"/>
            <a:ext cx="4286250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The dataset baseline represents the highest risk environment. Since then, the city has seen a structural long-term decline.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3843338" y="1608795"/>
            <a:ext cx="483989" cy="303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1602"/>
              <a:buFont typeface="Playfair Display"/>
              <a:buNone/>
            </a:pPr>
            <a:r>
              <a:rPr b="1" i="0" lang="en-US" sz="1602" u="none" cap="none" strike="noStrike">
                <a:solidFill>
                  <a:srgbClr val="D930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2016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505920" y="1681125"/>
            <a:ext cx="619720" cy="158948"/>
          </a:xfrm>
          <a:prstGeom prst="rect">
            <a:avLst/>
          </a:prstGeom>
          <a:solidFill>
            <a:srgbClr val="50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4505920" y="1681125"/>
            <a:ext cx="619720" cy="1589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25" lIns="68050" spcFirstLastPara="1" rIns="68050" wrap="square" tIns="34025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9999"/>
              </a:buClr>
              <a:buSzPts val="621"/>
              <a:buFont typeface="Roboto"/>
              <a:buNone/>
            </a:pPr>
            <a:r>
              <a:rPr b="0" i="0" lang="en-US" sz="621" u="none" cap="none" strike="noStrike">
                <a:solidFill>
                  <a:srgbClr val="FF9999"/>
                </a:solidFill>
                <a:latin typeface="Roboto"/>
                <a:ea typeface="Roboto"/>
                <a:cs typeface="Roboto"/>
                <a:sym typeface="Roboto"/>
              </a:rPr>
              <a:t>RISK SPIKE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843338" y="1948123"/>
            <a:ext cx="4872038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Reversal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3843338" y="2151720"/>
            <a:ext cx="4286250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A notable uptick reversed multi-year declines, signaling how quickly gains can erode without sustained investment.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3843338" y="2671763"/>
            <a:ext cx="535781" cy="303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B400"/>
              </a:buClr>
              <a:buSzPts val="1602"/>
              <a:buFont typeface="Playfair Display"/>
              <a:buNone/>
            </a:pPr>
            <a:r>
              <a:rPr b="1" i="0" lang="en-US" sz="1602" u="none" cap="none" strike="noStrike">
                <a:solidFill>
                  <a:srgbClr val="FFB4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2020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557713" y="2744093"/>
            <a:ext cx="557213" cy="158948"/>
          </a:xfrm>
          <a:prstGeom prst="rect">
            <a:avLst/>
          </a:prstGeom>
          <a:solidFill>
            <a:srgbClr val="403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4557713" y="2744093"/>
            <a:ext cx="557213" cy="1589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25" lIns="68050" spcFirstLastPara="1" rIns="68050" wrap="square" tIns="34025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CC66"/>
              </a:buClr>
              <a:buSzPts val="621"/>
              <a:buFont typeface="Roboto"/>
              <a:buNone/>
            </a:pPr>
            <a:r>
              <a:rPr b="0" i="0" lang="en-US" sz="621" u="none" cap="none" strike="noStrike">
                <a:solidFill>
                  <a:srgbClr val="FFCC66"/>
                </a:solidFill>
                <a:latin typeface="Roboto"/>
                <a:ea typeface="Roboto"/>
                <a:cs typeface="Roboto"/>
                <a:sym typeface="Roboto"/>
              </a:rPr>
              <a:t>ANOMALY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3843338" y="3011091"/>
            <a:ext cx="4872038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COVID-19 Disruption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3843338" y="3214688"/>
            <a:ext cx="4286250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Sharp drops in street crime were driven by lockdowns, not safety improvements. </a:t>
            </a:r>
            <a:r>
              <a:rPr b="1" i="0" lang="en-US" sz="78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Correlation ≠ Causation.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3843338" y="3734730"/>
            <a:ext cx="492919" cy="303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Playfair Display"/>
              <a:buNone/>
            </a:pPr>
            <a:r>
              <a:rPr b="1" i="0" lang="en-US" sz="160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2025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514850" y="3799917"/>
            <a:ext cx="467916" cy="173236"/>
          </a:xfrm>
          <a:prstGeom prst="rect">
            <a:avLst/>
          </a:prstGeom>
          <a:solidFill>
            <a:srgbClr val="33333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4514850" y="3799917"/>
            <a:ext cx="467916" cy="17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25" lIns="68050" spcFirstLastPara="1" rIns="68050" wrap="square" tIns="34025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Roboto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SIGNAL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843338" y="4074058"/>
            <a:ext cx="4872038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Historic Lows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3843338" y="4277655"/>
            <a:ext cx="4286250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Lowest homicide count since 2014. A structural break from the post-pandemic spike, offering the strongest investment signal in decades.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2" name="Google Shape;2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3193256" y="0"/>
            <a:ext cx="7144" cy="51435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214313" y="571500"/>
            <a:ext cx="27717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809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62"/>
              <a:buFont typeface="Playfair Display"/>
              <a:buNone/>
            </a:pPr>
            <a:r>
              <a:rPr b="1" i="0" lang="en-US" sz="2862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Geography</a:t>
            </a:r>
            <a:br>
              <a:rPr b="1" i="0" lang="en-US" sz="2862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b="1" i="0" lang="en-US" sz="2862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of Crime</a:t>
            </a:r>
            <a:endParaRPr b="0" i="0" sz="28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214313" y="1857375"/>
            <a:ext cx="2771775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D93025"/>
                </a:solidFill>
                <a:latin typeface="Roboto"/>
                <a:ea typeface="Roboto"/>
                <a:cs typeface="Roboto"/>
                <a:sym typeface="Roboto"/>
              </a:rPr>
              <a:t>WHERE RISK IS CONCENTRATED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7" name="Google Shape;22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313" y="2094012"/>
            <a:ext cx="9644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7"/>
          <p:cNvSpPr/>
          <p:nvPr/>
        </p:nvSpPr>
        <p:spPr>
          <a:xfrm>
            <a:off x="367903" y="2082403"/>
            <a:ext cx="1135856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Uneven Distribution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214313" y="2291358"/>
            <a:ext cx="27717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Crime clusters heavily in specific districts. A 10% sample reveals dense violent crime zones on the South and West sides.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0" name="Google Shape;23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313" y="2888754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7"/>
          <p:cNvSpPr/>
          <p:nvPr/>
        </p:nvSpPr>
        <p:spPr>
          <a:xfrm>
            <a:off x="432197" y="2877145"/>
            <a:ext cx="1007269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Arrest Disparities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214313" y="3086100"/>
            <a:ext cx="27717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Arrest likelihood varies by location, even when controlling for crime type. Geography is a key predictor.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3" name="Google Shape;23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4313" y="3683496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7"/>
          <p:cNvSpPr/>
          <p:nvPr/>
        </p:nvSpPr>
        <p:spPr>
          <a:xfrm>
            <a:off x="400050" y="3671888"/>
            <a:ext cx="1021556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Northern Stability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214313" y="3880842"/>
            <a:ext cx="2771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Northern districts show lower violent crime density and more balanced arrest-to-incident ratios.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3414713" y="1063526"/>
            <a:ext cx="5514975" cy="303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2"/>
              <a:buFont typeface="Playfair Display"/>
              <a:buNone/>
            </a:pPr>
            <a:r>
              <a:rPr b="1" i="0" lang="en-US" sz="1602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Strategic Risk Matrix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414713" y="1438573"/>
            <a:ext cx="1378744" cy="203597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3414713" y="1438573"/>
            <a:ext cx="1378744" cy="203597"/>
          </a:xfrm>
          <a:prstGeom prst="rect">
            <a:avLst/>
          </a:prstGeom>
          <a:noFill/>
          <a:ln>
            <a:noFill/>
          </a:ln>
        </p:spPr>
        <p:txBody>
          <a:bodyPr anchorCtr="0" anchor="ctr" bIns="51050" lIns="51050" spcFirstLastPara="1" rIns="51050" wrap="square" tIns="5105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Roboto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ZONE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4793456" y="1438573"/>
            <a:ext cx="1654476" cy="203597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4793456" y="1438573"/>
            <a:ext cx="1654476" cy="203597"/>
          </a:xfrm>
          <a:prstGeom prst="rect">
            <a:avLst/>
          </a:prstGeom>
          <a:noFill/>
          <a:ln>
            <a:noFill/>
          </a:ln>
        </p:spPr>
        <p:txBody>
          <a:bodyPr anchorCtr="0" anchor="ctr" bIns="51050" lIns="51050" spcFirstLastPara="1" rIns="51050" wrap="square" tIns="5105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Roboto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CRIME PROFILE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6447932" y="1438573"/>
            <a:ext cx="827224" cy="203597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6447932" y="1438573"/>
            <a:ext cx="827224" cy="203597"/>
          </a:xfrm>
          <a:prstGeom prst="rect">
            <a:avLst/>
          </a:prstGeom>
          <a:noFill/>
          <a:ln>
            <a:noFill/>
          </a:ln>
        </p:spPr>
        <p:txBody>
          <a:bodyPr anchorCtr="0" anchor="ctr" bIns="51050" lIns="51050" spcFirstLastPara="1" rIns="51050" wrap="square" tIns="5105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Roboto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RISK LEVEL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7275156" y="1438573"/>
            <a:ext cx="1654532" cy="203597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7275156" y="1438573"/>
            <a:ext cx="1654532" cy="203597"/>
          </a:xfrm>
          <a:prstGeom prst="rect">
            <a:avLst/>
          </a:prstGeom>
          <a:noFill/>
          <a:ln>
            <a:noFill/>
          </a:ln>
        </p:spPr>
        <p:txBody>
          <a:bodyPr anchorCtr="0" anchor="ctr" bIns="51050" lIns="51050" spcFirstLastPara="1" rIns="51050" wrap="square" tIns="5105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Roboto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STRATEGIC CONSIDERATION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3414713" y="1642170"/>
            <a:ext cx="1378744" cy="567928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South Side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793456" y="1642170"/>
            <a:ext cx="1654476" cy="567928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High violent crime volume; disproportionately low arrest rates.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6447932" y="1642170"/>
            <a:ext cx="827224" cy="567928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683"/>
              <a:buFont typeface="Roboto"/>
              <a:buNone/>
            </a:pPr>
            <a:r>
              <a:rPr b="1" i="0" lang="en-US" sz="683" u="none" cap="none" strike="noStrike">
                <a:solidFill>
                  <a:srgbClr val="D93025"/>
                </a:solidFill>
                <a:latin typeface="Roboto"/>
                <a:ea typeface="Roboto"/>
                <a:cs typeface="Roboto"/>
                <a:sym typeface="Roboto"/>
              </a:rPr>
              <a:t>HIGH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7275156" y="1642170"/>
            <a:ext cx="1654532" cy="567928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80"/>
              <a:buFont typeface="Roboto"/>
              <a:buNone/>
            </a:pPr>
            <a:r>
              <a:rPr b="0" i="0" lang="en-US" sz="78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Prioritize security investments; review insurance and safety protocols.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3414713" y="2210098"/>
            <a:ext cx="137874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West Side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4793456" y="2210098"/>
            <a:ext cx="165447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High violent crime, but improving trends.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6447932" y="2210098"/>
            <a:ext cx="82722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683"/>
              <a:buFont typeface="Roboto"/>
              <a:buNone/>
            </a:pPr>
            <a:r>
              <a:rPr b="1" i="0" lang="en-US" sz="683" u="none" cap="none" strike="noStrike">
                <a:solidFill>
                  <a:srgbClr val="E67E22"/>
                </a:solidFill>
                <a:latin typeface="Roboto"/>
                <a:ea typeface="Roboto"/>
                <a:cs typeface="Roboto"/>
                <a:sym typeface="Roboto"/>
              </a:rPr>
              <a:t>ELEVATED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7275156" y="2210098"/>
            <a:ext cx="165453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80"/>
              <a:buFont typeface="Roboto"/>
              <a:buNone/>
            </a:pPr>
            <a:r>
              <a:rPr b="0" i="0" lang="en-US" sz="78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Monitor trends; consider recovery opportunities with active management.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3414713" y="2781598"/>
            <a:ext cx="137874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Downtown / Loop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4793456" y="2781598"/>
            <a:ext cx="165447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High theft volume; moderate violent crime.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6447932" y="2781598"/>
            <a:ext cx="82722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B400"/>
              </a:buClr>
              <a:buSzPts val="683"/>
              <a:buFont typeface="Roboto"/>
              <a:buNone/>
            </a:pPr>
            <a:r>
              <a:rPr b="1" i="0" lang="en-US" sz="683" u="none" cap="none" strike="noStrike">
                <a:solidFill>
                  <a:srgbClr val="FFB400"/>
                </a:solidFill>
                <a:latin typeface="Roboto"/>
                <a:ea typeface="Roboto"/>
                <a:cs typeface="Roboto"/>
                <a:sym typeface="Roboto"/>
              </a:rPr>
              <a:t>MIXED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7275156" y="2781598"/>
            <a:ext cx="165453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80"/>
              <a:buFont typeface="Roboto"/>
              <a:buNone/>
            </a:pPr>
            <a:r>
              <a:rPr b="0" i="0" lang="en-US" sz="78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Target retail shrinkage and commercial security; high foot traffic factors in.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3414713" y="3353098"/>
            <a:ext cx="1378744" cy="567928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North Side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4793456" y="3353098"/>
            <a:ext cx="1654476" cy="567928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Lower density; balanced arrest outcomes.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6447932" y="3353098"/>
            <a:ext cx="827224" cy="567928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683"/>
              <a:buFont typeface="Roboto"/>
              <a:buNone/>
            </a:pPr>
            <a:r>
              <a:rPr b="1" i="0" lang="en-US" sz="683" u="none" cap="none" strike="noStrike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MODERATE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7275156" y="3353098"/>
            <a:ext cx="1654532" cy="567928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80"/>
              <a:buFont typeface="Roboto"/>
              <a:buNone/>
            </a:pPr>
            <a:r>
              <a:rPr b="0" i="0" lang="en-US" sz="78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Stable investment climate; standard security measures sufficient.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3414713" y="3978176"/>
            <a:ext cx="5514975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21"/>
              <a:buFont typeface="Roboto"/>
              <a:buNone/>
            </a:pPr>
            <a:r>
              <a:rPr b="0" i="1" lang="en-US" sz="621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* Analysis based on 10% random sample of violent crime incidents (2001–2026).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7" name="Google Shape;2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8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3650456" y="0"/>
            <a:ext cx="7144" cy="5143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357188" y="571500"/>
            <a:ext cx="294322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8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2"/>
              <a:buFont typeface="Playfair Display"/>
              <a:buNone/>
            </a:pPr>
            <a:r>
              <a:rPr b="1" i="0" lang="en-US" sz="286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Predictive</a:t>
            </a:r>
            <a:br>
              <a:rPr b="1" i="0" lang="en-US" sz="286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b="1" i="0" lang="en-US" sz="286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</a:t>
            </a:r>
            <a:endParaRPr b="0" i="0" sz="28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357188" y="1514475"/>
            <a:ext cx="2943225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B4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B400"/>
                </a:solidFill>
                <a:latin typeface="Roboto"/>
                <a:ea typeface="Roboto"/>
                <a:cs typeface="Roboto"/>
                <a:sym typeface="Roboto"/>
              </a:rPr>
              <a:t>FORECASTING ARREST LIKELIHOOD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357188" y="1825228"/>
            <a:ext cx="294322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RESEARCH QUESTION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357188" y="2014538"/>
            <a:ext cx="2943225" cy="960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69"/>
              <a:buFont typeface="Playfair Display"/>
              <a:buNone/>
            </a:pPr>
            <a:r>
              <a:rPr b="0" i="1" lang="en-US" sz="1269" u="none" cap="none" strike="noStrike">
                <a:solidFill>
                  <a:srgbClr val="DDDDD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"Can we predict whether a reported crime incident will result in an arrest, based on type, location, and time?"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357188" y="3117466"/>
            <a:ext cx="2943225" cy="1649425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357188" y="3117466"/>
            <a:ext cx="2943225" cy="28575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485775" y="3246053"/>
            <a:ext cx="26860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D93025"/>
                </a:solidFill>
                <a:latin typeface="Roboto"/>
                <a:ea typeface="Roboto"/>
                <a:cs typeface="Roboto"/>
                <a:sym typeface="Roboto"/>
              </a:rPr>
              <a:t>BUSINESS VALUE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7" name="Google Shape;27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3463937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8"/>
          <p:cNvSpPr/>
          <p:nvPr/>
        </p:nvSpPr>
        <p:spPr>
          <a:xfrm>
            <a:off x="685800" y="3435362"/>
            <a:ext cx="2486025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84"/>
              <a:buFont typeface="Roboto"/>
              <a:buNone/>
            </a:pPr>
            <a:r>
              <a:rPr b="1" i="0" lang="en-US" sz="784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Effectiveness Proxy:</a:t>
            </a:r>
            <a:r>
              <a:rPr b="0" i="0" lang="en-US" sz="834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Low predicted arrest rates signal systemic resource gaps.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9" name="Google Shape;27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385539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8"/>
          <p:cNvSpPr/>
          <p:nvPr/>
        </p:nvSpPr>
        <p:spPr>
          <a:xfrm>
            <a:off x="685800" y="3826818"/>
            <a:ext cx="2486025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84"/>
              <a:buFont typeface="Roboto"/>
              <a:buNone/>
            </a:pPr>
            <a:r>
              <a:rPr b="1" i="0" lang="en-US" sz="784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Proactive Allocation:</a:t>
            </a:r>
            <a:r>
              <a:rPr b="0" i="0" lang="en-US" sz="834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Shift from reactive response to predictive deployment.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1" name="Google Shape;28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775" y="4246848"/>
            <a:ext cx="8572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8"/>
          <p:cNvSpPr/>
          <p:nvPr/>
        </p:nvSpPr>
        <p:spPr>
          <a:xfrm>
            <a:off x="657225" y="4218273"/>
            <a:ext cx="2514600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84"/>
              <a:buFont typeface="Roboto"/>
              <a:buNone/>
            </a:pPr>
            <a:r>
              <a:rPr b="1" i="0" lang="en-US" sz="784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Risk Pricing:</a:t>
            </a:r>
            <a:r>
              <a:rPr b="0" i="0" lang="en-US" sz="834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Quantify location-based risk for insurance and real estate.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4086225" y="1270695"/>
            <a:ext cx="4629150" cy="219670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42"/>
              <a:buFont typeface="Roboto Mono"/>
              <a:buNone/>
            </a:pPr>
            <a:r>
              <a:rPr b="0" i="0" lang="en-US" sz="942" u="none" cap="none" strike="noStrik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SPARK MLlib PIPELINE ARCHITECTURE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343400" y="1618952"/>
            <a:ext cx="4371975" cy="533995"/>
          </a:xfrm>
          <a:prstGeom prst="rect">
            <a:avLst/>
          </a:prstGeom>
          <a:solidFill>
            <a:srgbClr val="252525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3907631" y="1743075"/>
            <a:ext cx="285750" cy="285750"/>
          </a:xfrm>
          <a:prstGeom prst="ellipse">
            <a:avLst/>
          </a:prstGeom>
          <a:solidFill>
            <a:srgbClr val="333333"/>
          </a:solidFill>
          <a:ln cap="flat" cmpd="sng" w="182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3907631" y="174307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Roboto Mono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8" name="Google Shape;28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43413" y="1794867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8"/>
          <p:cNvSpPr/>
          <p:nvPr/>
        </p:nvSpPr>
        <p:spPr>
          <a:xfrm>
            <a:off x="4707731" y="1726109"/>
            <a:ext cx="3907631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Split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4707731" y="1913632"/>
            <a:ext cx="3907631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AAAAAA"/>
                </a:solidFill>
                <a:latin typeface="Roboto Mono"/>
                <a:ea typeface="Roboto Mono"/>
                <a:cs typeface="Roboto Mono"/>
                <a:sym typeface="Roboto Mono"/>
              </a:rPr>
              <a:t>80% Training / 20% Testing (Seed=42)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4343400" y="2231529"/>
            <a:ext cx="4371975" cy="537567"/>
          </a:xfrm>
          <a:prstGeom prst="rect">
            <a:avLst/>
          </a:prstGeom>
          <a:solidFill>
            <a:srgbClr val="252525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3907631" y="2357438"/>
            <a:ext cx="285750" cy="285750"/>
          </a:xfrm>
          <a:prstGeom prst="ellipse">
            <a:avLst/>
          </a:prstGeom>
          <a:solidFill>
            <a:srgbClr val="333333"/>
          </a:solidFill>
          <a:ln cap="flat" cmpd="sng" w="182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3907631" y="2357438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Roboto Mono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43413" y="2409230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8"/>
          <p:cNvSpPr/>
          <p:nvPr/>
        </p:nvSpPr>
        <p:spPr>
          <a:xfrm>
            <a:off x="4772025" y="2338685"/>
            <a:ext cx="3843338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Feature Engineering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4772025" y="2526209"/>
            <a:ext cx="384333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AAAAAA"/>
                </a:solidFill>
                <a:latin typeface="Roboto Mono"/>
                <a:ea typeface="Roboto Mono"/>
                <a:cs typeface="Roboto Mono"/>
                <a:sym typeface="Roboto Mono"/>
              </a:rPr>
              <a:t>StringIndexer → OneHotEncoder → VectorAssembler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4343400" y="2847677"/>
            <a:ext cx="4371975" cy="533995"/>
          </a:xfrm>
          <a:prstGeom prst="rect">
            <a:avLst/>
          </a:prstGeom>
          <a:solidFill>
            <a:srgbClr val="2A2515"/>
          </a:solidFill>
          <a:ln cap="flat" cmpd="sng" w="9525">
            <a:solidFill>
              <a:srgbClr val="FF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3907631" y="2971800"/>
            <a:ext cx="285750" cy="285750"/>
          </a:xfrm>
          <a:prstGeom prst="ellipse">
            <a:avLst/>
          </a:prstGeom>
          <a:solidFill>
            <a:srgbClr val="333333"/>
          </a:solidFill>
          <a:ln cap="flat" cmpd="sng" w="182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3907631" y="297180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Roboto Mono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0" name="Google Shape;300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43413" y="3023592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8"/>
          <p:cNvSpPr/>
          <p:nvPr/>
        </p:nvSpPr>
        <p:spPr>
          <a:xfrm>
            <a:off x="4729163" y="2954834"/>
            <a:ext cx="3886200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 Training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4729163" y="3142357"/>
            <a:ext cx="3886200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AAAAAA"/>
                </a:solidFill>
                <a:latin typeface="Roboto Mono"/>
                <a:ea typeface="Roboto Mono"/>
                <a:cs typeface="Roboto Mono"/>
                <a:sym typeface="Roboto Mono"/>
              </a:rPr>
              <a:t>Logistic Regression (Baseline) vs. Random Forest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4343400" y="3460254"/>
            <a:ext cx="4371975" cy="533995"/>
          </a:xfrm>
          <a:prstGeom prst="rect">
            <a:avLst/>
          </a:prstGeom>
          <a:solidFill>
            <a:srgbClr val="252525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3907631" y="3584377"/>
            <a:ext cx="285750" cy="285750"/>
          </a:xfrm>
          <a:prstGeom prst="ellipse">
            <a:avLst/>
          </a:prstGeom>
          <a:solidFill>
            <a:srgbClr val="333333"/>
          </a:solidFill>
          <a:ln cap="flat" cmpd="sng" w="182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3907631" y="3584377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Roboto Mono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6" name="Google Shape;306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43413" y="3636169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8"/>
          <p:cNvSpPr/>
          <p:nvPr/>
        </p:nvSpPr>
        <p:spPr>
          <a:xfrm>
            <a:off x="4729163" y="3567410"/>
            <a:ext cx="3886200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Validation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4729163" y="3754934"/>
            <a:ext cx="3886200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27"/>
              <a:buFont typeface="Roboto Mono"/>
              <a:buNone/>
            </a:pPr>
            <a:r>
              <a:rPr b="0" i="0" lang="en-US" sz="727" u="none" cap="none" strike="noStrike">
                <a:solidFill>
                  <a:srgbClr val="AAAAAA"/>
                </a:solidFill>
                <a:latin typeface="Roboto Mono"/>
                <a:ea typeface="Roboto Mono"/>
                <a:cs typeface="Roboto Mono"/>
                <a:sym typeface="Roboto Mono"/>
              </a:rPr>
              <a:t>AUC-ROC (Primary) + F1 Score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4" name="Google Shape;3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9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5479256" y="0"/>
            <a:ext cx="7144" cy="5143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285750" y="1060847"/>
            <a:ext cx="4914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8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2"/>
              <a:buFont typeface="Playfair Display"/>
              <a:buNone/>
            </a:pPr>
            <a:r>
              <a:rPr b="1" i="0" lang="en-US" sz="286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</a:t>
            </a:r>
            <a:br>
              <a:rPr b="1" i="0" lang="en-US" sz="286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b="1" i="0" lang="en-US" sz="286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Performance</a:t>
            </a:r>
            <a:endParaRPr b="0" i="0" sz="28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285750" y="1932384"/>
            <a:ext cx="49149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B400"/>
              </a:buClr>
              <a:buSzPts val="1269"/>
              <a:buFont typeface="Roboto"/>
              <a:buNone/>
            </a:pPr>
            <a:r>
              <a:rPr b="0" i="0" lang="en-US" sz="1269" u="none" cap="none" strike="noStrike">
                <a:solidFill>
                  <a:srgbClr val="FFB400"/>
                </a:solidFill>
                <a:latin typeface="Roboto"/>
                <a:ea typeface="Roboto"/>
                <a:cs typeface="Roboto"/>
                <a:sym typeface="Roboto"/>
              </a:rPr>
              <a:t>AUC-ROC Comparison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285750" y="2346722"/>
            <a:ext cx="2109192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AUC-ROC (PRIMARY METRIC)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4046934" y="2364581"/>
            <a:ext cx="1153716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834"/>
              <a:buFont typeface="Roboto Mono"/>
              <a:buNone/>
            </a:pPr>
            <a:r>
              <a:rPr b="0" i="0" lang="en-US" sz="834" u="none" cap="none" strike="noStrike">
                <a:solidFill>
                  <a:srgbClr val="D93025"/>
                </a:solidFill>
                <a:latin typeface="Roboto Mono"/>
                <a:ea typeface="Roboto Mono"/>
                <a:cs typeface="Roboto Mono"/>
                <a:sym typeface="Roboto Mono"/>
              </a:rPr>
              <a:t>Linear Robustness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285750" y="2661940"/>
            <a:ext cx="1428750" cy="13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Roboto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Logistic Regression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1714500" y="2586038"/>
            <a:ext cx="3343275" cy="2857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1714500" y="2586038"/>
            <a:ext cx="2898604" cy="285750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1714500" y="2586038"/>
            <a:ext cx="289860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85075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Roboto Mono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0.8667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285750" y="3033415"/>
            <a:ext cx="1428750" cy="13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Random Forest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1714500" y="2957513"/>
            <a:ext cx="3343275" cy="2857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1714500" y="2957513"/>
            <a:ext cx="2868523" cy="28575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1714500" y="2957513"/>
            <a:ext cx="286852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85075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Roboto Mono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0.8580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285750" y="3543300"/>
            <a:ext cx="1923455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F1 SCORE (CV-VALIDATED)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285750" y="3858518"/>
            <a:ext cx="1428750" cy="13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Roboto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Random Forest (2-fold CV)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1714500" y="3782616"/>
            <a:ext cx="3343275" cy="2857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1714500" y="3782616"/>
            <a:ext cx="2868523" cy="28575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1714500" y="3782616"/>
            <a:ext cx="286852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85075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83"/>
              <a:buFont typeface="Roboto Mono"/>
              <a:buNone/>
            </a:pPr>
            <a:r>
              <a:rPr b="1" i="0" lang="en-US" sz="683" u="none" cap="none" strike="noStrike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rPr>
              <a:t>0.858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5772150" y="872347"/>
            <a:ext cx="3086100" cy="26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86"/>
              <a:buFont typeface="Playfair Display"/>
              <a:buNone/>
            </a:pPr>
            <a:r>
              <a:rPr b="0" i="0" lang="en-US" sz="1486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Linear Advantage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5772150" y="1224176"/>
            <a:ext cx="3086100" cy="82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Logistic Regression</a:t>
            </a:r>
            <a:r>
              <a:rPr b="0" i="0" lang="en-US" sz="942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achieved the highest AUC-ROC (0.8667), indicating that the primary arrest signal in Chicago is strongly linear across the encoded features.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5772150" y="2261360"/>
            <a:ext cx="3086100" cy="26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86"/>
              <a:buFont typeface="Playfair Display"/>
              <a:buNone/>
            </a:pPr>
            <a:r>
              <a:rPr b="0" i="0" lang="en-US" sz="1486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Non-Linear Complexity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5772150" y="2613189"/>
            <a:ext cx="3086100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Random Forest</a:t>
            </a:r>
            <a:r>
              <a:rPr b="0" i="0" lang="en-US" sz="942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 (0.858) handles complex feature interactions but requires careful tuning to outperform linear baselines in this high-volume dataset.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5772150" y="3587530"/>
            <a:ext cx="3086100" cy="969373"/>
          </a:xfrm>
          <a:prstGeom prst="rect">
            <a:avLst/>
          </a:prstGeom>
          <a:solidFill>
            <a:srgbClr val="2A1A1A"/>
          </a:solidFill>
          <a:ln cap="flat" cmpd="sng" w="9525">
            <a:solidFill>
              <a:srgbClr val="D930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0" name="Google Shape;34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5025" y="3746478"/>
            <a:ext cx="10715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9"/>
          <p:cNvSpPr/>
          <p:nvPr/>
        </p:nvSpPr>
        <p:spPr>
          <a:xfrm>
            <a:off x="6093619" y="3737549"/>
            <a:ext cx="1032272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683"/>
              <a:buFont typeface="Roboto"/>
              <a:buNone/>
            </a:pPr>
            <a:r>
              <a:rPr b="1" i="0" lang="en-US" sz="683" u="none" cap="none" strike="noStrike">
                <a:solidFill>
                  <a:srgbClr val="D93025"/>
                </a:solidFill>
                <a:latin typeface="Roboto"/>
                <a:ea typeface="Roboto"/>
                <a:cs typeface="Roboto"/>
                <a:sym typeface="Roboto"/>
              </a:rPr>
              <a:t>METRIC SELECTION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5915025" y="3926858"/>
            <a:ext cx="2800350" cy="4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BBBBBB"/>
                </a:solidFill>
                <a:latin typeface="Roboto"/>
                <a:ea typeface="Roboto"/>
                <a:cs typeface="Roboto"/>
                <a:sym typeface="Roboto"/>
              </a:rPr>
              <a:t>Due to extreme class imbalance (Theft arrest rate &lt; 6%), </a:t>
            </a:r>
            <a:r>
              <a:rPr b="1" i="0" lang="en-US" sz="784" u="none" cap="none" strike="noStrike">
                <a:solidFill>
                  <a:srgbClr val="BBBBBB"/>
                </a:solidFill>
                <a:latin typeface="Roboto"/>
                <a:ea typeface="Roboto"/>
                <a:cs typeface="Roboto"/>
                <a:sym typeface="Roboto"/>
              </a:rPr>
              <a:t>AUC-ROC</a:t>
            </a:r>
            <a:r>
              <a:rPr b="0" i="0" lang="en-US" sz="834" u="none" cap="none" strike="noStrike">
                <a:solidFill>
                  <a:srgbClr val="BBBBBB"/>
                </a:solidFill>
                <a:latin typeface="Roboto"/>
                <a:ea typeface="Roboto"/>
                <a:cs typeface="Roboto"/>
                <a:sym typeface="Roboto"/>
              </a:rPr>
              <a:t> is our gold standard, measuring discrimination ability regardless of distribution.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8" name="Google Shape;34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5022056" y="0"/>
            <a:ext cx="7144" cy="5143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357188" y="428625"/>
            <a:ext cx="4314825" cy="754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1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Playfair Display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Drives Arrest Likelihood?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357188" y="1468710"/>
            <a:ext cx="428625" cy="274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311"/>
              </a:lnSpc>
              <a:spcBef>
                <a:spcPts val="0"/>
              </a:spcBef>
              <a:spcAft>
                <a:spcPts val="0"/>
              </a:spcAft>
              <a:buClr>
                <a:srgbClr val="FFB400"/>
              </a:buClr>
              <a:buSzPts val="2436"/>
              <a:buFont typeface="Playfair Display"/>
              <a:buNone/>
            </a:pPr>
            <a:r>
              <a:rPr b="1" i="0" lang="en-US" sz="2436" u="none" cap="none" strike="noStrike">
                <a:solidFill>
                  <a:srgbClr val="FFB4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928688" y="1468710"/>
            <a:ext cx="3743325" cy="183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"/>
              <a:buFont typeface="Roboto"/>
              <a:buNone/>
            </a:pPr>
            <a:r>
              <a:rPr b="1" i="0" lang="en-US" sz="109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Primary Crime Type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928688" y="1688381"/>
            <a:ext cx="3743325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The strongest single predictor. Huge variance between Narcotics (99% arrest) and Theft (6% arrest).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357188" y="2272717"/>
            <a:ext cx="428625" cy="274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311"/>
              </a:lnSpc>
              <a:spcBef>
                <a:spcPts val="0"/>
              </a:spcBef>
              <a:spcAft>
                <a:spcPts val="0"/>
              </a:spcAft>
              <a:buClr>
                <a:srgbClr val="FFB400"/>
              </a:buClr>
              <a:buSzPts val="2436"/>
              <a:buFont typeface="Playfair Display"/>
              <a:buNone/>
            </a:pPr>
            <a:r>
              <a:rPr b="1" i="0" lang="en-US" sz="2436" u="none" cap="none" strike="noStrike">
                <a:solidFill>
                  <a:srgbClr val="FFB4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02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928688" y="2272717"/>
            <a:ext cx="3743325" cy="183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"/>
              <a:buFont typeface="Roboto"/>
              <a:buNone/>
            </a:pPr>
            <a:r>
              <a:rPr b="1" i="0" lang="en-US" sz="109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Hour of Day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928688" y="2492387"/>
            <a:ext cx="3743325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Temporal patterns drive outcomes. A 14-point gap in violent crime % exists between Morning and Night.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357188" y="3076724"/>
            <a:ext cx="428625" cy="274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311"/>
              </a:lnSpc>
              <a:spcBef>
                <a:spcPts val="0"/>
              </a:spcBef>
              <a:spcAft>
                <a:spcPts val="0"/>
              </a:spcAft>
              <a:buClr>
                <a:srgbClr val="FFB400"/>
              </a:buClr>
              <a:buSzPts val="2436"/>
              <a:buFont typeface="Playfair Display"/>
              <a:buNone/>
            </a:pPr>
            <a:r>
              <a:rPr b="1" i="0" lang="en-US" sz="2436" u="none" cap="none" strike="noStrike">
                <a:solidFill>
                  <a:srgbClr val="FFB4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03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928688" y="3076724"/>
            <a:ext cx="3743325" cy="183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"/>
              <a:buFont typeface="Roboto"/>
              <a:buNone/>
            </a:pPr>
            <a:r>
              <a:rPr b="1" i="0" lang="en-US" sz="109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District (Location)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928688" y="3296394"/>
            <a:ext cx="3743325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Geospatial signal is validated. Arrest gaps persist by district even when controlling for crime type.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357188" y="3880731"/>
            <a:ext cx="428625" cy="274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311"/>
              </a:lnSpc>
              <a:spcBef>
                <a:spcPts val="0"/>
              </a:spcBef>
              <a:spcAft>
                <a:spcPts val="0"/>
              </a:spcAft>
              <a:buClr>
                <a:srgbClr val="FFB400"/>
              </a:buClr>
              <a:buSzPts val="2436"/>
              <a:buFont typeface="Playfair Display"/>
              <a:buNone/>
            </a:pPr>
            <a:r>
              <a:rPr b="1" i="0" lang="en-US" sz="2436" u="none" cap="none" strike="noStrike">
                <a:solidFill>
                  <a:srgbClr val="FFB4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04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928688" y="3880731"/>
            <a:ext cx="3743325" cy="183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"/>
              <a:buFont typeface="Roboto"/>
              <a:buNone/>
            </a:pPr>
            <a:r>
              <a:rPr b="1" i="0" lang="en-US" sz="109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Domestic Status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928688" y="4100401"/>
            <a:ext cx="3743325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Domestic incidents follow structurally different reporting and arrest patterns than public crimes.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0"/>
          <p:cNvSpPr/>
          <p:nvPr/>
        </p:nvSpPr>
        <p:spPr>
          <a:xfrm>
            <a:off x="5386388" y="1019770"/>
            <a:ext cx="3400425" cy="35183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1486"/>
              <a:buFont typeface="Playfair Display"/>
              <a:buNone/>
            </a:pPr>
            <a:r>
              <a:rPr b="0" i="0" lang="en-US" sz="1486" u="none" cap="none" strike="noStrike">
                <a:solidFill>
                  <a:srgbClr val="D930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Temporal Strategy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5386388" y="1543050"/>
            <a:ext cx="3400425" cy="74116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"/>
          <p:cNvSpPr/>
          <p:nvPr/>
        </p:nvSpPr>
        <p:spPr>
          <a:xfrm>
            <a:off x="5386388" y="1543050"/>
            <a:ext cx="28575" cy="741164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5500688" y="1657350"/>
            <a:ext cx="1228725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Afternoon (12–5 PM)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9" name="Google Shape;36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43925" y="1657350"/>
            <a:ext cx="128588" cy="15180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0"/>
          <p:cNvSpPr/>
          <p:nvPr/>
        </p:nvSpPr>
        <p:spPr>
          <a:xfrm>
            <a:off x="5500688" y="1844873"/>
            <a:ext cx="317182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80"/>
              <a:buFont typeface="Roboto"/>
              <a:buNone/>
            </a:pPr>
            <a:r>
              <a:rPr b="0" i="0" lang="en-US" sz="780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Highest volume of theft incidents.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5500688" y="2052042"/>
            <a:ext cx="317182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Roboto"/>
              <a:buNone/>
            </a:pPr>
            <a:r>
              <a:rPr b="0" i="1" lang="en-US" sz="727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Deploy visible patrol in commercial/retail zones.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5386388" y="2427089"/>
            <a:ext cx="3400425" cy="74116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"/>
          <p:cNvSpPr/>
          <p:nvPr/>
        </p:nvSpPr>
        <p:spPr>
          <a:xfrm>
            <a:off x="5386388" y="2427089"/>
            <a:ext cx="28575" cy="741164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5500688" y="2541389"/>
            <a:ext cx="1475184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Late Night (10 PM–2 AM)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5" name="Google Shape;37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43925" y="2541389"/>
            <a:ext cx="128588" cy="15180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0"/>
          <p:cNvSpPr/>
          <p:nvPr/>
        </p:nvSpPr>
        <p:spPr>
          <a:xfrm>
            <a:off x="5500688" y="2728913"/>
            <a:ext cx="317182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80"/>
              <a:buFont typeface="Roboto"/>
              <a:buNone/>
            </a:pPr>
            <a:r>
              <a:rPr b="0" i="0" lang="en-US" sz="780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Highest share of violent crime.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5500688" y="2936081"/>
            <a:ext cx="317182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Roboto"/>
              <a:buNone/>
            </a:pPr>
            <a:r>
              <a:rPr b="0" i="1" lang="en-US" sz="727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Prioritize de-escalation units and rapid response.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5386388" y="3311128"/>
            <a:ext cx="3400425" cy="74116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5386388" y="3311128"/>
            <a:ext cx="28575" cy="74116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5500688" y="3425428"/>
            <a:ext cx="941189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Weekend Nights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1" name="Google Shape;38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59998" y="3425428"/>
            <a:ext cx="112514" cy="15180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0"/>
          <p:cNvSpPr/>
          <p:nvPr/>
        </p:nvSpPr>
        <p:spPr>
          <a:xfrm>
            <a:off x="5500688" y="3612952"/>
            <a:ext cx="317182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80"/>
              <a:buFont typeface="Roboto"/>
              <a:buNone/>
            </a:pPr>
            <a:r>
              <a:rPr b="0" i="0" lang="en-US" sz="780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Peak demand for police resources.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5500688" y="3820120"/>
            <a:ext cx="317182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Roboto"/>
              <a:buNone/>
            </a:pPr>
            <a:r>
              <a:rPr b="0" i="1" lang="en-US" sz="727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Requires surge capacity planning.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9" name="Google Shape;38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1"/>
          <p:cNvSpPr/>
          <p:nvPr/>
        </p:nvSpPr>
        <p:spPr>
          <a:xfrm>
            <a:off x="428625" y="428625"/>
            <a:ext cx="8286750" cy="55006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428625" y="971550"/>
            <a:ext cx="8286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1"/>
          <p:cNvSpPr/>
          <p:nvPr/>
        </p:nvSpPr>
        <p:spPr>
          <a:xfrm>
            <a:off x="428625" y="428625"/>
            <a:ext cx="496490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8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2"/>
              <a:buFont typeface="Playfair Display"/>
              <a:buNone/>
            </a:pPr>
            <a:r>
              <a:rPr b="1" i="0" lang="en-US" sz="286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From Model to Operations</a:t>
            </a:r>
            <a:endParaRPr b="0" i="0" sz="28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6868716" y="659011"/>
            <a:ext cx="1846659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42"/>
              <a:buFont typeface="Roboto Mono"/>
              <a:buNone/>
            </a:pPr>
            <a:r>
              <a:rPr b="0" i="0" lang="en-US" sz="942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THE MLOPS ARCHITECTURE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428625" y="1400175"/>
            <a:ext cx="1491593" cy="1585187"/>
          </a:xfrm>
          <a:prstGeom prst="rect">
            <a:avLst/>
          </a:prstGeom>
          <a:solidFill>
            <a:srgbClr val="252525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1"/>
          <p:cNvSpPr/>
          <p:nvPr/>
        </p:nvSpPr>
        <p:spPr>
          <a:xfrm>
            <a:off x="960109" y="1543050"/>
            <a:ext cx="428625" cy="428625"/>
          </a:xfrm>
          <a:prstGeom prst="ellipse">
            <a:avLst/>
          </a:prstGeom>
          <a:solidFill>
            <a:srgbClr val="1A1A1A"/>
          </a:solidFill>
          <a:ln cap="flat" cmpd="sng" w="18275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6" name="Google Shape;39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412" y="1671638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1"/>
          <p:cNvSpPr/>
          <p:nvPr/>
        </p:nvSpPr>
        <p:spPr>
          <a:xfrm>
            <a:off x="869026" y="2078831"/>
            <a:ext cx="610791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Roboto Mono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INGESTION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571500" y="2300288"/>
            <a:ext cx="1205843" cy="26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74"/>
              <a:buFont typeface="Roboto"/>
              <a:buNone/>
            </a:pPr>
            <a:r>
              <a:rPr b="0" i="0" lang="en-US" sz="67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Scalable loading of 8.5M+ records via Spark SQL.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769014" y="2667465"/>
            <a:ext cx="810816" cy="16073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1"/>
          <p:cNvSpPr/>
          <p:nvPr/>
        </p:nvSpPr>
        <p:spPr>
          <a:xfrm>
            <a:off x="769014" y="2667465"/>
            <a:ext cx="810816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sp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568"/>
              <a:buFont typeface="Roboto Mono"/>
              <a:buNone/>
            </a:pPr>
            <a:r>
              <a:rPr b="0" i="0" lang="en-US" sz="568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Databricks DBFS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2127414" y="1400175"/>
            <a:ext cx="1491593" cy="1585187"/>
          </a:xfrm>
          <a:prstGeom prst="rect">
            <a:avLst/>
          </a:prstGeom>
          <a:solidFill>
            <a:srgbClr val="252525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1"/>
          <p:cNvSpPr/>
          <p:nvPr/>
        </p:nvSpPr>
        <p:spPr>
          <a:xfrm>
            <a:off x="2658898" y="1543050"/>
            <a:ext cx="428625" cy="428625"/>
          </a:xfrm>
          <a:prstGeom prst="ellipse">
            <a:avLst/>
          </a:prstGeom>
          <a:solidFill>
            <a:srgbClr val="1A1A1A"/>
          </a:solidFill>
          <a:ln cap="flat" cmpd="sng" w="18275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3" name="Google Shape;40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66054" y="1671638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1"/>
          <p:cNvSpPr/>
          <p:nvPr/>
        </p:nvSpPr>
        <p:spPr>
          <a:xfrm>
            <a:off x="2533883" y="2078831"/>
            <a:ext cx="678656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Roboto Mono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PROCESSING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2270289" y="2300288"/>
            <a:ext cx="1205843" cy="26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74"/>
              <a:buFont typeface="Roboto"/>
              <a:buNone/>
            </a:pPr>
            <a:r>
              <a:rPr b="0" i="0" lang="en-US" sz="67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Modular cleaning &amp; feature engineering.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2444586" y="2667465"/>
            <a:ext cx="857250" cy="16073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2444586" y="2667465"/>
            <a:ext cx="857250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sp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568"/>
              <a:buFont typeface="Roboto Mono"/>
              <a:buNone/>
            </a:pPr>
            <a:r>
              <a:rPr b="0" i="0" lang="en-US" sz="568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PySpark / Python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3826204" y="1400175"/>
            <a:ext cx="1491593" cy="1585187"/>
          </a:xfrm>
          <a:prstGeom prst="rect">
            <a:avLst/>
          </a:prstGeom>
          <a:solidFill>
            <a:srgbClr val="2A1A1A"/>
          </a:solidFill>
          <a:ln cap="flat" cmpd="sng" w="9525">
            <a:solidFill>
              <a:srgbClr val="D930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1"/>
          <p:cNvSpPr/>
          <p:nvPr/>
        </p:nvSpPr>
        <p:spPr>
          <a:xfrm>
            <a:off x="4357688" y="1543050"/>
            <a:ext cx="428625" cy="428625"/>
          </a:xfrm>
          <a:prstGeom prst="ellipse">
            <a:avLst/>
          </a:prstGeom>
          <a:solidFill>
            <a:srgbClr val="1A1A1A"/>
          </a:solidFill>
          <a:ln cap="flat" cmpd="sng" w="18275">
            <a:solidFill>
              <a:srgbClr val="D930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0" name="Google Shape;41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86275" y="167163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1"/>
          <p:cNvSpPr/>
          <p:nvPr/>
        </p:nvSpPr>
        <p:spPr>
          <a:xfrm>
            <a:off x="4300538" y="2078831"/>
            <a:ext cx="54292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Roboto Mono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TRAINING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3969079" y="2300288"/>
            <a:ext cx="1205843" cy="26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74"/>
              <a:buFont typeface="Roboto"/>
              <a:buNone/>
            </a:pPr>
            <a:r>
              <a:rPr b="0" i="0" lang="en-US" sz="67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Distributed model training (RF + LR).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4259461" y="2667465"/>
            <a:ext cx="625078" cy="16073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1"/>
          <p:cNvSpPr/>
          <p:nvPr/>
        </p:nvSpPr>
        <p:spPr>
          <a:xfrm>
            <a:off x="4259461" y="2667465"/>
            <a:ext cx="625078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sp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568"/>
              <a:buFont typeface="Roboto Mono"/>
              <a:buNone/>
            </a:pPr>
            <a:r>
              <a:rPr b="0" i="0" lang="en-US" sz="568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Spark MLlib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5524993" y="1400175"/>
            <a:ext cx="1491593" cy="1585187"/>
          </a:xfrm>
          <a:prstGeom prst="rect">
            <a:avLst/>
          </a:prstGeom>
          <a:solidFill>
            <a:srgbClr val="252525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1"/>
          <p:cNvSpPr/>
          <p:nvPr/>
        </p:nvSpPr>
        <p:spPr>
          <a:xfrm>
            <a:off x="6056477" y="1543050"/>
            <a:ext cx="428625" cy="428625"/>
          </a:xfrm>
          <a:prstGeom prst="ellipse">
            <a:avLst/>
          </a:prstGeom>
          <a:solidFill>
            <a:srgbClr val="1A1A1A"/>
          </a:solidFill>
          <a:ln cap="flat" cmpd="sng" w="18275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7" name="Google Shape;41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06496" y="1671638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1"/>
          <p:cNvSpPr/>
          <p:nvPr/>
        </p:nvSpPr>
        <p:spPr>
          <a:xfrm>
            <a:off x="5931461" y="2078831"/>
            <a:ext cx="678656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Roboto Mono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GOVERNANCE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5667868" y="2300288"/>
            <a:ext cx="1205843" cy="26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74"/>
              <a:buFont typeface="Roboto"/>
              <a:buNone/>
            </a:pPr>
            <a:r>
              <a:rPr b="0" i="0" lang="en-US" sz="67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Experiment tracking &amp; model registry.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6074336" y="2667465"/>
            <a:ext cx="392906" cy="16073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6074336" y="2667465"/>
            <a:ext cx="392906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sp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568"/>
              <a:buFont typeface="Roboto Mono"/>
              <a:buNone/>
            </a:pPr>
            <a:r>
              <a:rPr b="0" i="0" lang="en-US" sz="568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MLflow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7223782" y="1400175"/>
            <a:ext cx="1491593" cy="1585187"/>
          </a:xfrm>
          <a:prstGeom prst="rect">
            <a:avLst/>
          </a:prstGeom>
          <a:solidFill>
            <a:srgbClr val="2A251A"/>
          </a:solidFill>
          <a:ln cap="flat" cmpd="sng" w="9525">
            <a:solidFill>
              <a:srgbClr val="FF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7755266" y="1543050"/>
            <a:ext cx="428625" cy="428625"/>
          </a:xfrm>
          <a:prstGeom prst="ellipse">
            <a:avLst/>
          </a:prstGeom>
          <a:solidFill>
            <a:srgbClr val="1A1A1A"/>
          </a:solidFill>
          <a:ln cap="flat" cmpd="sng" w="18275">
            <a:solidFill>
              <a:srgbClr val="FF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4" name="Google Shape;424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83854" y="167163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1"/>
          <p:cNvSpPr/>
          <p:nvPr/>
        </p:nvSpPr>
        <p:spPr>
          <a:xfrm>
            <a:off x="7630251" y="2078831"/>
            <a:ext cx="678656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Roboto Mono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DEPLOYMENT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7366657" y="2300288"/>
            <a:ext cx="1205843" cy="26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74"/>
              <a:buFont typeface="Roboto"/>
              <a:buNone/>
            </a:pPr>
            <a:r>
              <a:rPr b="0" i="0" lang="en-US" sz="67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Batch inference &amp; actionable insights.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7680257" y="2667465"/>
            <a:ext cx="578644" cy="16073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7680257" y="2667465"/>
            <a:ext cx="578644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sp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568"/>
              <a:buFont typeface="Roboto Mono"/>
              <a:buNone/>
            </a:pPr>
            <a:r>
              <a:rPr b="0" i="0" lang="en-US" sz="568" u="none" cap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Delta Lake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428625" y="3399699"/>
            <a:ext cx="8286750" cy="111085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428625" y="3399699"/>
            <a:ext cx="8286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428625" y="3685449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9"/>
              <a:buFont typeface="Playfair Display"/>
              <a:buNone/>
            </a:pPr>
            <a:r>
              <a:rPr b="0" i="0" lang="en-US" sz="1269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Modular Pipeline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428625" y="4021206"/>
            <a:ext cx="2571750" cy="4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80"/>
              <a:buFont typeface="Roboto"/>
              <a:buNone/>
            </a:pPr>
            <a:r>
              <a:rPr b="0" i="0" lang="en-US" sz="78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Structured as reusable Python functions, not ad-hoc notebook cells. Triggered end-to-end by a single </a:t>
            </a:r>
            <a:r>
              <a:rPr b="1" i="0" lang="en-US" sz="734" u="none" cap="none" strike="noStrike">
                <a:solidFill>
                  <a:srgbClr val="D93025"/>
                </a:solidFill>
                <a:latin typeface="Roboto"/>
                <a:ea typeface="Roboto"/>
                <a:cs typeface="Roboto"/>
                <a:sym typeface="Roboto"/>
              </a:rPr>
              <a:t>run_pipeline()</a:t>
            </a:r>
            <a:r>
              <a:rPr b="0" i="0" lang="en-US" sz="78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 call.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3286125" y="3685449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9"/>
              <a:buFont typeface="Playfair Display"/>
              <a:buNone/>
            </a:pPr>
            <a:r>
              <a:rPr b="0" i="0" lang="en-US" sz="1269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Inline QA Checks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3286125" y="4021206"/>
            <a:ext cx="2571750" cy="4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80"/>
              <a:buFont typeface="Roboto"/>
              <a:buNone/>
            </a:pPr>
            <a:r>
              <a:rPr b="0" i="0" lang="en-US" sz="78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Automated quality gates between stages ensure data integrity. Issues surface immediately rather than propagating silently.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6143625" y="3685449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9"/>
              <a:buFont typeface="Playfair Display"/>
              <a:buNone/>
            </a:pPr>
            <a:r>
              <a:rPr b="0" i="0" lang="en-US" sz="1269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Enterprise Scale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6143625" y="4021206"/>
            <a:ext cx="2571750" cy="4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80"/>
              <a:buFont typeface="Roboto"/>
              <a:buNone/>
            </a:pPr>
            <a:r>
              <a:rPr b="0" i="0" lang="en-US" sz="78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Built on </a:t>
            </a:r>
            <a:r>
              <a:rPr b="1" i="0" lang="en-US" sz="734" u="none" cap="none" strike="noStrike">
                <a:solidFill>
                  <a:srgbClr val="D93025"/>
                </a:solidFill>
                <a:latin typeface="Roboto"/>
                <a:ea typeface="Roboto"/>
                <a:cs typeface="Roboto"/>
                <a:sym typeface="Roboto"/>
              </a:rPr>
              <a:t>Databricks + Spark</a:t>
            </a:r>
            <a:r>
              <a:rPr b="0" i="0" lang="en-US" sz="78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, the architecture scales effortlessly from 8.5M to 8.5B records without code changes.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2" name="Google Shape;4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2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2"/>
          <p:cNvSpPr/>
          <p:nvPr/>
        </p:nvSpPr>
        <p:spPr>
          <a:xfrm>
            <a:off x="2736056" y="0"/>
            <a:ext cx="7144" cy="51435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"/>
          <p:cNvSpPr/>
          <p:nvPr/>
        </p:nvSpPr>
        <p:spPr>
          <a:xfrm>
            <a:off x="285750" y="571500"/>
            <a:ext cx="21717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809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62"/>
              <a:buFont typeface="Playfair Display"/>
              <a:buNone/>
            </a:pPr>
            <a:r>
              <a:rPr b="1" i="0" lang="en-US" sz="2862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Turning Data</a:t>
            </a:r>
            <a:br>
              <a:rPr b="1" i="0" lang="en-US" sz="2862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b="1" i="0" lang="en-US" sz="2862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Into Decisions</a:t>
            </a:r>
            <a:endParaRPr b="0" i="0" sz="28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285750" y="2485850"/>
            <a:ext cx="21717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880"/>
              </a:lnSpc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1193"/>
              <a:buFont typeface="Roboto"/>
              <a:buNone/>
            </a:pPr>
            <a:r>
              <a:rPr b="1" i="0" lang="en-US" sz="1193" u="none" cap="none" strike="noStrike">
                <a:solidFill>
                  <a:srgbClr val="D93025"/>
                </a:solidFill>
                <a:latin typeface="Roboto"/>
                <a:ea typeface="Roboto"/>
                <a:cs typeface="Roboto"/>
                <a:sym typeface="Roboto"/>
              </a:rPr>
              <a:t>5 Strategic Recommendations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285750" y="3360409"/>
            <a:ext cx="2171700" cy="82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The analysis yields concrete, data-backed actions for city agencies, businesses, and investors operating in Chicago's public safety landscape.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3171825" y="520657"/>
            <a:ext cx="357188" cy="357188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9" name="Google Shape;44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8981" y="627813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2"/>
          <p:cNvSpPr/>
          <p:nvPr/>
        </p:nvSpPr>
        <p:spPr>
          <a:xfrm>
            <a:off x="3671888" y="520657"/>
            <a:ext cx="5043488" cy="208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90"/>
              <a:buFont typeface="Playfair Display"/>
              <a:buNone/>
            </a:pPr>
            <a:r>
              <a:rPr b="1" i="0" lang="en-US" sz="109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Time-Based Resource Deployment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3671888" y="765330"/>
            <a:ext cx="5043488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Deploy resources based on crime-type windows: </a:t>
            </a:r>
            <a:r>
              <a:rPr b="1" i="0" lang="en-US" sz="784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afternoon commercial patrols</a:t>
            </a:r>
            <a:r>
              <a:rPr b="0" i="0" lang="en-US" sz="834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for theft, </a:t>
            </a:r>
            <a:r>
              <a:rPr b="1" i="0" lang="en-US" sz="784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late-night de-escalation units</a:t>
            </a:r>
            <a:r>
              <a:rPr b="0" i="0" lang="en-US" sz="834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for violent crime.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3171825" y="1378241"/>
            <a:ext cx="357188" cy="3571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3" name="Google Shape;45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0052" y="1485398"/>
            <a:ext cx="16073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2"/>
          <p:cNvSpPr/>
          <p:nvPr/>
        </p:nvSpPr>
        <p:spPr>
          <a:xfrm>
            <a:off x="3671888" y="1378241"/>
            <a:ext cx="5043488" cy="208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90"/>
              <a:buFont typeface="Playfair Display"/>
              <a:buNone/>
            </a:pPr>
            <a:r>
              <a:rPr b="1" i="0" lang="en-US" sz="109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District-Level Investment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3671888" y="1622915"/>
            <a:ext cx="5043488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Target </a:t>
            </a:r>
            <a:r>
              <a:rPr b="1" i="0" lang="en-US" sz="784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low-arrest districts</a:t>
            </a:r>
            <a:r>
              <a:rPr b="0" i="0" lang="en-US" sz="834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. High-crime, low-arrest zones signal systemic capacity gaps that require investigative resources, not just patrol.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3171825" y="2235826"/>
            <a:ext cx="357188" cy="357188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7" name="Google Shape;45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70052" y="2342983"/>
            <a:ext cx="16073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2"/>
          <p:cNvSpPr/>
          <p:nvPr/>
        </p:nvSpPr>
        <p:spPr>
          <a:xfrm>
            <a:off x="3671888" y="2235826"/>
            <a:ext cx="5043488" cy="208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90"/>
              <a:buFont typeface="Playfair Display"/>
              <a:buNone/>
            </a:pPr>
            <a:r>
              <a:rPr b="1" i="0" lang="en-US" sz="109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Retail Crime Strategy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3671888" y="2480500"/>
            <a:ext cx="5043488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With a </a:t>
            </a:r>
            <a:r>
              <a:rPr b="1" i="0" lang="en-US" sz="784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6% arrest rate</a:t>
            </a:r>
            <a:r>
              <a:rPr b="0" i="0" lang="en-US" sz="834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for theft, enforcement is reactive. Retailers must invest in </a:t>
            </a:r>
            <a:r>
              <a:rPr b="1" i="0" lang="en-US" sz="784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deterrence</a:t>
            </a:r>
            <a:r>
              <a:rPr b="0" i="0" lang="en-US" sz="834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(lighting, cameras, staffing) to prevent loss.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3171825" y="3093411"/>
            <a:ext cx="357188" cy="3571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1" name="Google Shape;461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87911" y="3200567"/>
            <a:ext cx="12501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2"/>
          <p:cNvSpPr/>
          <p:nvPr/>
        </p:nvSpPr>
        <p:spPr>
          <a:xfrm>
            <a:off x="3671888" y="3093411"/>
            <a:ext cx="5043488" cy="208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90"/>
              <a:buFont typeface="Playfair Display"/>
              <a:buNone/>
            </a:pPr>
            <a:r>
              <a:rPr b="1" i="0" lang="en-US" sz="109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Quality Audit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3671888" y="3338085"/>
            <a:ext cx="5043488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i="0" lang="en-US" sz="784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Narcotics leakage</a:t>
            </a:r>
            <a:r>
              <a:rPr b="0" i="0" lang="en-US" sz="834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(99% arrest rate) parallels financial data artifacts. Organizations using crime data for risk scoring must audit for these biases.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3171825" y="3950996"/>
            <a:ext cx="357188" cy="357188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5" name="Google Shape;465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78981" y="405815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2"/>
          <p:cNvSpPr/>
          <p:nvPr/>
        </p:nvSpPr>
        <p:spPr>
          <a:xfrm>
            <a:off x="3671888" y="3950996"/>
            <a:ext cx="5043488" cy="208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90"/>
              <a:buFont typeface="Playfair Display"/>
              <a:buNone/>
            </a:pPr>
            <a:r>
              <a:rPr b="1" i="0" lang="en-US" sz="109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Sustained Safety Infrastructure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3671888" y="4195669"/>
            <a:ext cx="5043488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4"/>
              <a:buFont typeface="Roboto"/>
              <a:buNone/>
            </a:pPr>
            <a:r>
              <a:rPr b="1" i="0" lang="en-US" sz="784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2025's historic reductions</a:t>
            </a:r>
            <a:r>
              <a:rPr b="0" i="0" lang="en-US" sz="834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prove that data-driven policing and community investment work. The business case for continued funding is strong.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3" name="Google Shape;47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13"/>
          <p:cNvSpPr/>
          <p:nvPr/>
        </p:nvSpPr>
        <p:spPr>
          <a:xfrm>
            <a:off x="285750" y="428625"/>
            <a:ext cx="8572500" cy="95011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3"/>
          <p:cNvSpPr/>
          <p:nvPr/>
        </p:nvSpPr>
        <p:spPr>
          <a:xfrm>
            <a:off x="285750" y="1371600"/>
            <a:ext cx="8572500" cy="7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3"/>
          <p:cNvSpPr/>
          <p:nvPr/>
        </p:nvSpPr>
        <p:spPr>
          <a:xfrm>
            <a:off x="285750" y="428625"/>
            <a:ext cx="246102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809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62"/>
              <a:buFont typeface="Playfair Display"/>
              <a:buNone/>
            </a:pPr>
            <a:r>
              <a:rPr b="1" i="0" lang="en-US" sz="2862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ROI of</a:t>
            </a:r>
            <a:br>
              <a:rPr b="1" i="0" lang="en-US" sz="2862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b="1" i="0" lang="en-US" sz="2862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Public Safety</a:t>
            </a:r>
            <a:endParaRPr b="0" i="0" sz="28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5988248" y="1060847"/>
            <a:ext cx="2870002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D93025"/>
                </a:solidFill>
                <a:latin typeface="Roboto"/>
                <a:ea typeface="Roboto"/>
                <a:cs typeface="Roboto"/>
                <a:sym typeface="Roboto"/>
              </a:rPr>
              <a:t>WHY BUSINESS LEADERS SHOULD CARE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285750" y="1585913"/>
            <a:ext cx="2666991" cy="1718072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3"/>
          <p:cNvSpPr/>
          <p:nvPr/>
        </p:nvSpPr>
        <p:spPr>
          <a:xfrm>
            <a:off x="285750" y="1585913"/>
            <a:ext cx="2666991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0" name="Google Shape;48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063" y="181272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13"/>
          <p:cNvSpPr/>
          <p:nvPr/>
        </p:nvSpPr>
        <p:spPr>
          <a:xfrm>
            <a:off x="500063" y="2210991"/>
            <a:ext cx="223836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93"/>
              <a:buFont typeface="Playfair Display"/>
              <a:buNone/>
            </a:pPr>
            <a:r>
              <a:rPr b="1" i="0" lang="en-US" sz="1193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Property Values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500063" y="2546747"/>
            <a:ext cx="223836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Neighborhoods with declining violent crime rates see measurable increases in residential and commercial property values.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3" name="Google Shape;48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59897" y="2353866"/>
            <a:ext cx="10715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3"/>
          <p:cNvSpPr/>
          <p:nvPr/>
        </p:nvSpPr>
        <p:spPr>
          <a:xfrm>
            <a:off x="3238491" y="1585913"/>
            <a:ext cx="2666991" cy="1718072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3"/>
          <p:cNvSpPr/>
          <p:nvPr/>
        </p:nvSpPr>
        <p:spPr>
          <a:xfrm>
            <a:off x="3238491" y="1585913"/>
            <a:ext cx="2666991" cy="28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6" name="Google Shape;48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52803" y="1812727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3"/>
          <p:cNvSpPr/>
          <p:nvPr/>
        </p:nvSpPr>
        <p:spPr>
          <a:xfrm>
            <a:off x="3452803" y="2210991"/>
            <a:ext cx="223836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93"/>
              <a:buFont typeface="Playfair Display"/>
              <a:buNone/>
            </a:pPr>
            <a:r>
              <a:rPr b="1" i="0" lang="en-US" sz="1193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Retail Revenue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3452803" y="2546747"/>
            <a:ext cx="223836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Lower robbery rates correlate directly with higher foot traffic and reduced shrinkage, boosting net margins.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9" name="Google Shape;48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12638" y="2353866"/>
            <a:ext cx="10715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3"/>
          <p:cNvSpPr/>
          <p:nvPr/>
        </p:nvSpPr>
        <p:spPr>
          <a:xfrm>
            <a:off x="6191231" y="1585913"/>
            <a:ext cx="2667019" cy="1718072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3"/>
          <p:cNvSpPr/>
          <p:nvPr/>
        </p:nvSpPr>
        <p:spPr>
          <a:xfrm>
            <a:off x="6191231" y="1585913"/>
            <a:ext cx="2667019" cy="28575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2" name="Google Shape;49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5544" y="181272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13"/>
          <p:cNvSpPr/>
          <p:nvPr/>
        </p:nvSpPr>
        <p:spPr>
          <a:xfrm>
            <a:off x="6405544" y="2210991"/>
            <a:ext cx="223839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93"/>
              <a:buFont typeface="Playfair Display"/>
              <a:buNone/>
            </a:pPr>
            <a:r>
              <a:rPr b="1" i="0" lang="en-US" sz="1193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Investment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6405544" y="2546747"/>
            <a:ext cx="2238394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Sustained safety gains drive corporate relocation, HQ retention, and workforce stability.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285750" y="3489722"/>
            <a:ext cx="8572500" cy="109151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3"/>
          <p:cNvSpPr/>
          <p:nvPr/>
        </p:nvSpPr>
        <p:spPr>
          <a:xfrm>
            <a:off x="428625" y="3784011"/>
            <a:ext cx="1875234" cy="502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5125" wrap="square" tIns="0">
            <a:spAutoFit/>
          </a:bodyPr>
          <a:lstStyle/>
          <a:p>
            <a:pPr indent="0" lvl="0" marL="0" marR="0" rtl="0" algn="l">
              <a:lnSpc>
                <a:spcPct val="124843"/>
              </a:lnSpc>
              <a:spcBef>
                <a:spcPts val="0"/>
              </a:spcBef>
              <a:spcAft>
                <a:spcPts val="0"/>
              </a:spcAft>
              <a:buClr>
                <a:srgbClr val="FFB400"/>
              </a:buClr>
              <a:buSzPts val="1602"/>
              <a:buFont typeface="Playfair Display"/>
              <a:buNone/>
            </a:pPr>
            <a:r>
              <a:rPr b="1" i="0" lang="en-US" sz="1602" u="none" cap="none" strike="noStrike">
                <a:solidFill>
                  <a:srgbClr val="FFB4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2025</a:t>
            </a:r>
            <a:br>
              <a:rPr b="1" i="0" lang="en-US" sz="1602" u="none" cap="none" strike="noStrike">
                <a:solidFill>
                  <a:srgbClr val="FFB4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b="1" i="0" lang="en-US" sz="1602" u="none" cap="none" strike="noStrike">
                <a:solidFill>
                  <a:srgbClr val="FFB4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Business Signal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2589609" y="3659386"/>
            <a:ext cx="3039666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Chicago's safest year since the 1960s coincided with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5629275" y="3659386"/>
            <a:ext cx="1841302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7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record-setting economic vitality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7470577" y="3659386"/>
            <a:ext cx="33933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2589609" y="3981190"/>
            <a:ext cx="850106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9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7"/>
              <a:buFont typeface="Playfair Display"/>
              <a:buNone/>
            </a:pPr>
            <a:r>
              <a:rPr b="1" i="0" lang="en-US" sz="1397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61 of 77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2589609" y="4301207"/>
            <a:ext cx="850106" cy="137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NBHD'S IMPROVED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3725466" y="3981190"/>
            <a:ext cx="753666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9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7"/>
              <a:buFont typeface="Playfair Display"/>
              <a:buNone/>
            </a:pPr>
            <a:r>
              <a:rPr b="1" i="0" lang="en-US" sz="1397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Historic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3"/>
          <p:cNvSpPr/>
          <p:nvPr/>
        </p:nvSpPr>
        <p:spPr>
          <a:xfrm>
            <a:off x="3725466" y="4301207"/>
            <a:ext cx="753666" cy="137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Roboto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LOW HOMICIDES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09" name="Google Shape;5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14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4"/>
          <p:cNvSpPr/>
          <p:nvPr/>
        </p:nvSpPr>
        <p:spPr>
          <a:xfrm>
            <a:off x="5022056" y="0"/>
            <a:ext cx="7144" cy="5143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4"/>
          <p:cNvSpPr/>
          <p:nvPr/>
        </p:nvSpPr>
        <p:spPr>
          <a:xfrm>
            <a:off x="357188" y="1474487"/>
            <a:ext cx="4314825" cy="1508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4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3"/>
              <a:buFont typeface="Playfair Display"/>
              <a:buNone/>
            </a:pPr>
            <a:r>
              <a:rPr b="1" i="0" lang="en-US" sz="3293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Public Safety is a </a:t>
            </a:r>
            <a:r>
              <a:rPr b="1" i="0" lang="en-US" sz="3293" u="none" cap="none" strike="noStrike">
                <a:solidFill>
                  <a:srgbClr val="FFB4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Competitive Advantage</a:t>
            </a:r>
            <a:r>
              <a:rPr b="1" i="0" lang="en-US" sz="3293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.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357188" y="3154663"/>
            <a:ext cx="35718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7604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69"/>
              <a:buFont typeface="Roboto"/>
              <a:buNone/>
            </a:pPr>
            <a:r>
              <a:rPr b="0" i="0" lang="en-US" sz="1269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We are moving from reactive uncertainty to predictive risk management. The data is clear: Chicago is open for business.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4"/>
          <p:cNvSpPr/>
          <p:nvPr/>
        </p:nvSpPr>
        <p:spPr>
          <a:xfrm>
            <a:off x="5386388" y="1003697"/>
            <a:ext cx="235744" cy="303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2"/>
              <a:buFont typeface="Playfair Display"/>
              <a:buNone/>
            </a:pPr>
            <a:r>
              <a:rPr b="1" i="0" lang="en-US" sz="1602" u="none" cap="none" strike="noStrike">
                <a:solidFill>
                  <a:srgbClr val="44444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5729288" y="1071563"/>
            <a:ext cx="1450181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STRUCTURAL SHIFT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5386388" y="1364456"/>
            <a:ext cx="34004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0225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BBBBBB"/>
                </a:solidFill>
                <a:latin typeface="Roboto"/>
                <a:ea typeface="Roboto"/>
                <a:cs typeface="Roboto"/>
                <a:sym typeface="Roboto"/>
              </a:rPr>
              <a:t>2025's historic lows represent a fundamental break from post-pandemic volatility, not a temporary dip.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5386388" y="1921669"/>
            <a:ext cx="267891" cy="303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2"/>
              <a:buFont typeface="Playfair Display"/>
              <a:buNone/>
            </a:pPr>
            <a:r>
              <a:rPr b="1" i="0" lang="en-US" sz="1602" u="none" cap="none" strike="noStrike">
                <a:solidFill>
                  <a:srgbClr val="44444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02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5761434" y="1989534"/>
            <a:ext cx="1430536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PREDICTIVE POWER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5386388" y="2282428"/>
            <a:ext cx="34004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0225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BBBBBB"/>
                </a:solidFill>
                <a:latin typeface="Roboto"/>
                <a:ea typeface="Roboto"/>
                <a:cs typeface="Roboto"/>
                <a:sym typeface="Roboto"/>
              </a:rPr>
              <a:t>With 82% model accuracy, we can forecast outcomes and allocate resources with surgical precision.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5386388" y="2839641"/>
            <a:ext cx="258961" cy="303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2"/>
              <a:buFont typeface="Playfair Display"/>
              <a:buNone/>
            </a:pPr>
            <a:r>
              <a:rPr b="1" i="0" lang="en-US" sz="1602" u="none" cap="none" strike="noStrike">
                <a:solidFill>
                  <a:srgbClr val="44444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03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5752505" y="2907506"/>
            <a:ext cx="1371600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ECONOMIC ENGINE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5386388" y="3200400"/>
            <a:ext cx="34004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0225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BBBBBB"/>
                </a:solidFill>
                <a:latin typeface="Roboto"/>
                <a:ea typeface="Roboto"/>
                <a:cs typeface="Roboto"/>
                <a:sym typeface="Roboto"/>
              </a:rPr>
              <a:t>Safety is the ultimate ROI. Secure neighborhoods drive property value, retention, and growth.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5386388" y="4021931"/>
            <a:ext cx="1300163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Chicago Crime Analysis 2026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8209955" y="4021931"/>
            <a:ext cx="576858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Q&amp;A Session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2026-03-06T01:36:31Z</dcterms:created>
  <dc:creator>PptxGenJS</dc:creator>
</cp:coreProperties>
</file>